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29612f704f3142d6" /><Relationship Type="http://schemas.openxmlformats.org/officeDocument/2006/relationships/extended-properties" Target="/docProps/app.xml" Id="R65c05a1f55bf4497" /><Relationship Type="http://schemas.openxmlformats.org/officeDocument/2006/relationships/officeDocument" Target="/ppt/presentation.xml" Id="R6be54cb708e94e79" /></Relationships>
</file>

<file path=ppt/presentation.xml><?xml version="1.0" encoding="utf-8"?>
<p:presentation xmlns:p="http://schemas.openxmlformats.org/presentationml/2006/main">
  <p:sldMasterIdLst>
    <p:sldMasterId xmlns:r="http://schemas.openxmlformats.org/officeDocument/2006/relationships" id="2147483648" r:id="Rc373d1b5efde4d59"/>
  </p:sldMasterIdLst>
  <p:notesMasterIdLst>
    <p:notesMasterId xmlns:r="http://schemas.openxmlformats.org/officeDocument/2006/relationships" r:id="R859e35a2e877443d"/>
  </p:notesMasterIdLst>
  <p:sldIdLst>
    <p:sldId xmlns:r="http://schemas.openxmlformats.org/officeDocument/2006/relationships" id="256" r:id="Re4a5fdbcc6f44365"/>
    <p:sldId xmlns:r="http://schemas.openxmlformats.org/officeDocument/2006/relationships" id="257" r:id="Rd32c24d2d58c45aa"/>
    <p:sldId xmlns:r="http://schemas.openxmlformats.org/officeDocument/2006/relationships" id="258" r:id="R6dcaad655af34fb1"/>
    <p:sldId xmlns:r="http://schemas.openxmlformats.org/officeDocument/2006/relationships" id="259" r:id="Rbf25a420ab544ec3"/>
    <p:sldId xmlns:r="http://schemas.openxmlformats.org/officeDocument/2006/relationships" id="260" r:id="Rab6f35524300400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63ced5be5584dcb" /><Relationship Type="http://schemas.openxmlformats.org/officeDocument/2006/relationships/slideMaster" Target="/ppt/slideMasters/slideMaster1.xml" Id="Rc373d1b5efde4d59" /><Relationship Type="http://schemas.openxmlformats.org/officeDocument/2006/relationships/notesMaster" Target="/ppt/notesMasters/notesMaster1.xml" Id="R859e35a2e877443d" /><Relationship Type="http://schemas.openxmlformats.org/officeDocument/2006/relationships/presProps" Target="/ppt/presProps.xml" Id="Rc5b35050b2fd4848" /><Relationship Type="http://schemas.openxmlformats.org/officeDocument/2006/relationships/tableStyles" Target="/ppt/tableStyles.xml" Id="Re7b57858de814a46" /><Relationship Type="http://schemas.openxmlformats.org/officeDocument/2006/relationships/slide" Target="/ppt/slides/slide1.xml" Id="Re4a5fdbcc6f44365" /><Relationship Type="http://schemas.openxmlformats.org/officeDocument/2006/relationships/slide" Target="/ppt/slides/slide2.xml" Id="Rd32c24d2d58c45aa" /><Relationship Type="http://schemas.openxmlformats.org/officeDocument/2006/relationships/slide" Target="/ppt/slides/slide3.xml" Id="R6dcaad655af34fb1" /><Relationship Type="http://schemas.openxmlformats.org/officeDocument/2006/relationships/slide" Target="/ppt/slides/slide4.xml" Id="Rbf25a420ab544ec3" /><Relationship Type="http://schemas.openxmlformats.org/officeDocument/2006/relationships/slide" Target="/ppt/slides/slide5.xml" Id="Rab6f35524300400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0fcbe871d3447b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21c30ab57f14b97" /><Relationship Type="http://schemas.openxmlformats.org/officeDocument/2006/relationships/notesMaster" Target="/ppt/notesMasters/notesMaster1.xml" Id="R67461b0d6a98427a" /></Relationships>
</file>

<file path=ppt/notesSlides/_rels/notesSlide2.xml.rels>&#65279;<?xml version="1.0" encoding="utf-8"?><Relationships xmlns="http://schemas.openxmlformats.org/package/2006/relationships"><Relationship Type="http://schemas.openxmlformats.org/officeDocument/2006/relationships/slide" Target="/ppt/slides/slide2.xml" Id="Rb780dfc6e49141b9" /><Relationship Type="http://schemas.openxmlformats.org/officeDocument/2006/relationships/notesMaster" Target="/ppt/notesMasters/notesMaster1.xml" Id="R07982c7c68664b0c" /></Relationships>
</file>

<file path=ppt/notesSlides/_rels/notesSlide3.xml.rels>&#65279;<?xml version="1.0" encoding="utf-8"?><Relationships xmlns="http://schemas.openxmlformats.org/package/2006/relationships"><Relationship Type="http://schemas.openxmlformats.org/officeDocument/2006/relationships/slide" Target="/ppt/slides/slide3.xml" Id="R8584c427850f47d6" /><Relationship Type="http://schemas.openxmlformats.org/officeDocument/2006/relationships/notesMaster" Target="/ppt/notesMasters/notesMaster1.xml" Id="R294ede7ea8d34a96" /></Relationships>
</file>

<file path=ppt/notesSlides/_rels/notesSlide4.xml.rels>&#65279;<?xml version="1.0" encoding="utf-8"?><Relationships xmlns="http://schemas.openxmlformats.org/package/2006/relationships"><Relationship Type="http://schemas.openxmlformats.org/officeDocument/2006/relationships/slide" Target="/ppt/slides/slide4.xml" Id="R6675f2e643b54e2c" /><Relationship Type="http://schemas.openxmlformats.org/officeDocument/2006/relationships/notesMaster" Target="/ppt/notesMasters/notesMaster1.xml" Id="Rcc8c9a3b1abc400a" /></Relationships>
</file>

<file path=ppt/notesSlides/_rels/notesSlide5.xml.rels>&#65279;<?xml version="1.0" encoding="utf-8"?><Relationships xmlns="http://schemas.openxmlformats.org/package/2006/relationships"><Relationship Type="http://schemas.openxmlformats.org/officeDocument/2006/relationships/slide" Target="/ppt/slides/slide5.xml" Id="R5bf1f91956ce473e" /><Relationship Type="http://schemas.openxmlformats.org/officeDocument/2006/relationships/notesMaster" Target="/ppt/notesMasters/notesMaster1.xml" Id="Ra0bd16335959411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operations lead proposes extending the same intake checklist in the same queue for four workweeks, October 5–30, 2026. Leaders are being asked to approve the extension and the reassignment of up to eight staff-hours each week. That allocation has an unquantified opportunity cost. No additional spending is requested. This presentation does not approve the extension, assign staff or authorize expansion. The review would take place November 6, after the final completion cohort has seven days of reopening follow-up. All material in this deck is fictional.</a:t>
            </a:r>
          </a:p>
          <a:p xmlns:a="http://schemas.openxmlformats.org/drawingml/2006/main">
            <a:r>
              <a:t/>
            </a:r>
          </a:p>
          <a:p xmlns:a="http://schemas.openxmlformats.org/drawingml/2006/main">
            <a:r>
              <a:t>Source snapshot: fictional packet version 1, dated 2026-10-01. SHA-256: 5d14e97515765e190d776989b03cc59412e6169d4ccdb714585eee78b00e799f. Public source links follow the main branch and may change.</a:t>
            </a:r>
          </a:p>
          <a:p xmlns:a="http://schemas.openxmlformats.org/drawingml/2006/main">
            <a:r>
              <a:t/>
            </a:r>
          </a:p>
          <a:p xmlns:a="http://schemas.openxmlformats.org/drawingml/2006/main">
            <a:r>
              <a:t>Sources:</a:t>
            </a:r>
          </a:p>
          <a:p xmlns:a="http://schemas.openxmlformats.org/drawingml/2006/main">
            <a:r>
              <a:t>S0: https://github.com/SeungheonOh/awesome-dot/blob/main/skill/source-backed-presentation/source-packet.md#s0-brief</a:t>
            </a:r>
          </a:p>
          <a:p xmlns:a="http://schemas.openxmlformats.org/drawingml/2006/main">
            <a:r>
              <a:t>S3: https://github.com/SeungheonOh/awesome-dot/blob/main/skill/source-backed-presentation/source-packet.md#s3-extension-proposal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supplied medians are 18 elapsed hours for 40 baseline completions and 12 elapsed hours for 60 pilot completions. The observed difference is 18 minus 12, or six hours. Arrival to first completed response defines the duration. Requests, rather than people, define the sample. Baseline completions fall on September 7–11 and pilot completions on September 14–18, 2026. These summary medians cannot be independently reconstructed because the source packet contains no individual durations. Both bars start at zero. The samples are consecutive, nonrandom weeks and exclude open or abandoned requests. Do not describe this as a causal speed improvement, a result for every request or a labor saving.</a:t>
            </a:r>
          </a:p>
          <a:p xmlns:a="http://schemas.openxmlformats.org/drawingml/2006/main">
            <a:r>
              <a:t/>
            </a:r>
          </a:p>
          <a:p xmlns:a="http://schemas.openxmlformats.org/drawingml/2006/main">
            <a:r>
              <a:t>Source snapshot: fictional packet version 1, dated 2026-10-01. SHA-256: 5d14e97515765e190d776989b03cc59412e6169d4ccdb714585eee78b00e799f. Public source links follow the main branch and may change.</a:t>
            </a:r>
          </a:p>
          <a:p xmlns:a="http://schemas.openxmlformats.org/drawingml/2006/main">
            <a:r>
              <a:t/>
            </a:r>
          </a:p>
          <a:p xmlns:a="http://schemas.openxmlformats.org/drawingml/2006/main">
            <a:r>
              <a:t>Sources:</a:t>
            </a:r>
          </a:p>
          <a:p xmlns:a="http://schemas.openxmlformats.org/drawingml/2006/main">
            <a:r>
              <a:t>S1: https://github.com/SeungheonOh/awesome-dot/blob/main/skill/source-backed-presentation/source-packet.md#s1-measurement-notes</a:t>
            </a:r>
          </a:p>
          <a:p xmlns:a="http://schemas.openxmlformats.org/drawingml/2006/main">
            <a:r>
              <a:t>S2: https://github.com/SeungheonOh/awesome-dot/blob/main/skill/source-backed-presentation/source-packet.md#s2-interpretation-limits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Four of 40 baseline requests reopened within seven calendar days, giving 10.0%. Seven of 60 pilot requests reopened, giving 11.666...%, displayed as 11.7% to one decimal place. The denominator is completed requests in each period. Every completion has a full seven-day reopening window, ending no later than September 25. The pilot fraction is numerically higher, but the small, unmatched samples do not establish either equivalence or a causal deterioration. Case complexity and workload mix are unknown. There is no satisfaction measurement or supplied significance test. Review individual reopened cases rather than claiming that quality is unchanged.</a:t>
            </a:r>
          </a:p>
          <a:p xmlns:a="http://schemas.openxmlformats.org/drawingml/2006/main">
            <a:r>
              <a:t/>
            </a:r>
          </a:p>
          <a:p xmlns:a="http://schemas.openxmlformats.org/drawingml/2006/main">
            <a:r>
              <a:t>Source snapshot: fictional packet version 1, dated 2026-10-01. SHA-256: 5d14e97515765e190d776989b03cc59412e6169d4ccdb714585eee78b00e799f. Public source links follow the main branch and may change.</a:t>
            </a:r>
          </a:p>
          <a:p xmlns:a="http://schemas.openxmlformats.org/drawingml/2006/main">
            <a:r>
              <a:t/>
            </a:r>
          </a:p>
          <a:p xmlns:a="http://schemas.openxmlformats.org/drawingml/2006/main">
            <a:r>
              <a:t>Sources:</a:t>
            </a:r>
          </a:p>
          <a:p xmlns:a="http://schemas.openxmlformats.org/drawingml/2006/main">
            <a:r>
              <a:t>S1: https://github.com/SeungheonOh/awesome-dot/blob/main/skill/source-backed-presentation/source-packet.md#s1-measurement-notes</a:t>
            </a:r>
          </a:p>
          <a:p xmlns:a="http://schemas.openxmlformats.org/drawingml/2006/main">
            <a:r>
              <a:t>S2: https://github.com/SeungheonOh/awesome-dot/blob/main/skill/source-backed-presentation/source-packet.md#s2-interpretation-limits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If leaders approve the extension, the operations lead would own delivery and record request volume, completion times, reopening counts, open or abandoned requests and actual staff-hours. The quality lead would review reopened cases. These are proposed responsibilities, not accepted commitments. The requested coverage cap is eight staff-hours per week reassigned from existing coverage. Recording actual time would expose the currently unknown staff-time cost, but no cost or labor-saving claim is supported today. The review on November 6 permits seven calendar days of follow-up for the final October 30 completion cohort. Keep the same queue and checklist during the extension.</a:t>
            </a:r>
          </a:p>
          <a:p xmlns:a="http://schemas.openxmlformats.org/drawingml/2006/main">
            <a:r>
              <a:t/>
            </a:r>
          </a:p>
          <a:p xmlns:a="http://schemas.openxmlformats.org/drawingml/2006/main">
            <a:r>
              <a:t>Source snapshot: fictional packet version 1, dated 2026-10-01. SHA-256: 5d14e97515765e190d776989b03cc59412e6169d4ccdb714585eee78b00e799f. Public source links follow the main branch and may change.</a:t>
            </a:r>
          </a:p>
          <a:p xmlns:a="http://schemas.openxmlformats.org/drawingml/2006/main">
            <a:r>
              <a:t/>
            </a:r>
          </a:p>
          <a:p xmlns:a="http://schemas.openxmlformats.org/drawingml/2006/main">
            <a:r>
              <a:t>Sources:</a:t>
            </a:r>
          </a:p>
          <a:p xmlns:a="http://schemas.openxmlformats.org/drawingml/2006/main">
            <a:r>
              <a:t>S2: https://github.com/SeungheonOh/awesome-dot/blob/main/skill/source-backed-presentation/source-packet.md#s2-interpretation-limits</a:t>
            </a:r>
          </a:p>
          <a:p xmlns:a="http://schemas.openxmlformats.org/drawingml/2006/main">
            <a:r>
              <a:t>S3: https://github.com/SeungheonOh/awesome-dot/blob/main/skill/source-backed-presentation/source-packet.md#s3-extension-proposal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Ask leaders to decide whether to approve the four-workweek extension and these proposed review rules. The sponsor proposes a median response-time target of at most 12 elapsed hours for completed requests, a seven-day reopening ceiling of 12% with both numerator and denominator visible, and a cap of eight staff-hours each week. These thresholds have not been validated statistically and are not achieved results. Any logged serious service failure triggers an immediate pause and leadership review. At the November 6 review, leaders choose whether to stop, revise or consider a separately approved expansion. Passing the proposed thresholds would not establish causal benefit or quality equivalence. Keep small denominators and differences in request mix visible. This deck authorizes no operational action.</a:t>
            </a:r>
          </a:p>
          <a:p xmlns:a="http://schemas.openxmlformats.org/drawingml/2006/main">
            <a:r>
              <a:t/>
            </a:r>
          </a:p>
          <a:p xmlns:a="http://schemas.openxmlformats.org/drawingml/2006/main">
            <a:r>
              <a:t>Source snapshot: fictional packet version 1, dated 2026-10-01. SHA-256: 5d14e97515765e190d776989b03cc59412e6169d4ccdb714585eee78b00e799f. Public source links follow the main branch and may change.</a:t>
            </a:r>
          </a:p>
          <a:p xmlns:a="http://schemas.openxmlformats.org/drawingml/2006/main">
            <a:r>
              <a:t/>
            </a:r>
          </a:p>
          <a:p xmlns:a="http://schemas.openxmlformats.org/drawingml/2006/main">
            <a:r>
              <a:t>Sources:</a:t>
            </a:r>
          </a:p>
          <a:p xmlns:a="http://schemas.openxmlformats.org/drawingml/2006/main">
            <a:r>
              <a:t>S0: https://github.com/SeungheonOh/awesome-dot/blob/main/skill/source-backed-presentation/source-packet.md#s0-brief</a:t>
            </a:r>
          </a:p>
          <a:p xmlns:a="http://schemas.openxmlformats.org/drawingml/2006/main">
            <a:r>
              <a:t>S4: https://github.com/SeungheonOh/awesome-dot/blob/main/skill/source-backed-presentation/source-packet.md#s4-proposed-review-rules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2195bbe96764b6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3bb1d8852b84614" /><Relationship Type="http://schemas.openxmlformats.org/officeDocument/2006/relationships/slideLayout" Target="/ppt/slideLayouts/slideLayout1.xml" Id="Rf1f4105fe134414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1f4105fe134414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8a3884cdb4f429e" /><Relationship Type="http://schemas.openxmlformats.org/officeDocument/2006/relationships/hyperlink" Target="https://github.com/SeungheonOh/awesome-dot/blob/main/skill/source-backed-presentation/source-packet.md#s0-brief" TargetMode="External" Id="R5728551af14843f0" /><Relationship Type="http://schemas.openxmlformats.org/officeDocument/2006/relationships/hyperlink" Target="https://github.com/SeungheonOh/awesome-dot/blob/main/skill/source-backed-presentation/source-packet.md#s3-extension-proposal" TargetMode="External" Id="R4d2de9a1082646cb" /><Relationship Type="http://schemas.openxmlformats.org/officeDocument/2006/relationships/notesSlide" Target="/ppt/notesSlides/notesSlide1.xml" Id="Re0a07368397d444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00daadca83c4bfc" /><Relationship Type="http://schemas.openxmlformats.org/officeDocument/2006/relationships/chart" Target="/ppt/slides/charts/chart1.xml" Id="R482c1b98a3e048a4" /><Relationship Type="http://schemas.openxmlformats.org/officeDocument/2006/relationships/hyperlink" Target="https://github.com/SeungheonOh/awesome-dot/blob/main/skill/source-backed-presentation/source-packet.md#s1-measurement-notes" TargetMode="External" Id="R949377eeda7b464e" /><Relationship Type="http://schemas.openxmlformats.org/officeDocument/2006/relationships/hyperlink" Target="https://github.com/SeungheonOh/awesome-dot/blob/main/skill/source-backed-presentation/source-packet.md#s2-interpretation-limits" TargetMode="External" Id="R820215be51c94c9b" /><Relationship Type="http://schemas.openxmlformats.org/officeDocument/2006/relationships/notesSlide" Target="/ppt/notesSlides/notesSlide2.xml" Id="Rc4cdd7100e554a6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0aba52e100643d7" /><Relationship Type="http://schemas.openxmlformats.org/officeDocument/2006/relationships/hyperlink" Target="https://github.com/SeungheonOh/awesome-dot/blob/main/skill/source-backed-presentation/source-packet.md#s1-measurement-notes" TargetMode="External" Id="R302443a5423141db" /><Relationship Type="http://schemas.openxmlformats.org/officeDocument/2006/relationships/hyperlink" Target="https://github.com/SeungheonOh/awesome-dot/blob/main/skill/source-backed-presentation/source-packet.md#s2-interpretation-limits" TargetMode="External" Id="R88c83be55b7d49e5" /><Relationship Type="http://schemas.openxmlformats.org/officeDocument/2006/relationships/notesSlide" Target="/ppt/notesSlides/notesSlide3.xml" Id="R7aa2a8ae183e4f4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9f46bdb07604f3c" /><Relationship Type="http://schemas.openxmlformats.org/officeDocument/2006/relationships/hyperlink" Target="https://github.com/SeungheonOh/awesome-dot/blob/main/skill/source-backed-presentation/source-packet.md#s2-interpretation-limits" TargetMode="External" Id="Rd50785ad2be04c24" /><Relationship Type="http://schemas.openxmlformats.org/officeDocument/2006/relationships/hyperlink" Target="https://github.com/SeungheonOh/awesome-dot/blob/main/skill/source-backed-presentation/source-packet.md#s3-extension-proposal" TargetMode="External" Id="R3bd1f2d9cfd84580" /><Relationship Type="http://schemas.openxmlformats.org/officeDocument/2006/relationships/notesSlide" Target="/ppt/notesSlides/notesSlide4.xml" Id="R6c0693a4bbc847a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c52dc0fe00843f9" /><Relationship Type="http://schemas.openxmlformats.org/officeDocument/2006/relationships/hyperlink" Target="https://github.com/SeungheonOh/awesome-dot/blob/main/skill/source-backed-presentation/source-packet.md#s0-brief" TargetMode="External" Id="R7751feb6543a4362" /><Relationship Type="http://schemas.openxmlformats.org/officeDocument/2006/relationships/hyperlink" Target="https://github.com/SeungheonOh/awesome-dot/blob/main/skill/source-backed-presentation/source-packet.md#s4-proposed-review-rules" TargetMode="External" Id="R6bb8f39fd0b64336" /><Relationship Type="http://schemas.openxmlformats.org/officeDocument/2006/relationships/notesSlide" Target="/ppt/notesSlides/notesSlide5.xml" Id="R81932299087e46b3"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Median elapsed hours</c:v>
          </c:tx>
          <c:spPr>
            <a:solidFill xmlns:a="http://schemas.openxmlformats.org/drawingml/2006/main">
              <a:srgbClr val="145A7A"/>
            </a:solidFill>
          </c:spPr>
          <c:cat>
            <c:strRef>
              <c:f>'Chart Data'!$A$2:$A$3</c:f>
              <c:strCache>
                <c:ptCount val="2"/>
                <c:pt idx="0">
                  <c:v>Baseline: 40 requests</c:v>
                </c:pt>
                <c:pt idx="1">
                  <c:v>Pilot: 60 requests</c:v>
                </c:pt>
              </c:strCache>
            </c:strRef>
          </c:cat>
          <c:val>
            <c:numRef>
              <c:f>'Chart Data'!$B$2:$B$3</c:f>
              <c:numCache>
                <c:formatCode>0</c:formatCode>
                <c:ptCount val="2"/>
                <c:pt idx="0">
                  <c:v>18</c:v>
                </c:pt>
                <c:pt idx="1">
                  <c:v>12</c:v>
                </c:pt>
              </c:numCache>
            </c:numRef>
          </c:val>
        </c:ser>
        <c:dLbls>
          <c:txPr>
            <a:bodyPr xmlns:a="http://schemas.openxmlformats.org/drawingml/2006/main" anchorCtr="1"/>
            <a:lstStyle xmlns:a="http://schemas.openxmlformats.org/drawingml/2006/main"/>
            <a:p xmlns:a="http://schemas.openxmlformats.org/drawingml/2006/main">
              <a:pPr>
                <a:defRPr sz="2100" b="1">
                  <a:solidFill>
                    <a:srgbClr val="173042"/>
                  </a:solidFill>
                  <a:latin typeface="DejaVu Sans"/>
                  <a:ea typeface="DejaVu Sans"/>
                  <a:cs typeface="DejaVu Sans"/>
                </a:defRPr>
              </a:pPr>
            </a:p>
          </c:txPr>
          <c:dLblPos val="outEnd"/>
          <c:showLegendKey val="0"/>
          <c:showVal val="1"/>
          <c:showCatName val="0"/>
          <c:showSerName val="0"/>
          <c:showPercent val="0"/>
          <c:showBubbleSize val="0"/>
          <c:showLeaderLines val="0"/>
        </c:dLbls>
        <c:gapWidth val="24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455968"/>
            </a:solidFill>
          </a:ln>
        </c:spPr>
        <c:txPr>
          <a:bodyPr xmlns:a="http://schemas.openxmlformats.org/drawingml/2006/main" anchorCtr="1"/>
          <a:lstStyle xmlns:a="http://schemas.openxmlformats.org/drawingml/2006/main"/>
          <a:p xmlns:a="http://schemas.openxmlformats.org/drawingml/2006/main">
            <a:pPr>
              <a:defRPr sz="1800">
                <a:solidFill>
                  <a:srgbClr val="173042"/>
                </a:solidFill>
                <a:latin typeface="DejaVu Sans"/>
                <a:ea typeface="DejaVu Sans"/>
                <a:cs typeface="DejaVu Sans"/>
              </a:defRPr>
            </a:pPr>
          </a:p>
        </c:txPr>
        <c:crossAx val="48672768"/>
      </c:catAx>
      <c:valAx>
        <c:axId val="48672768"/>
        <c:scaling>
          <c:orientation val="minMax"/>
          <c:max val="24"/>
          <c:min val="0"/>
        </c:scaling>
        <c:delete val="0"/>
        <c:axPos val="l"/>
        <c:majorGridlines>
          <c:spPr>
            <a:ln xmlns:a="http://schemas.openxmlformats.org/drawingml/2006/main" w="9525">
              <a:solidFill>
                <a:srgbClr val="C9D1D5"/>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173042"/>
                </a:solidFill>
                <a:latin typeface="DejaVu Sans"/>
                <a:ea typeface="DejaVu Sans"/>
                <a:cs typeface="DejaVu Sans"/>
              </a:defRPr>
            </a:pPr>
          </a:p>
        </c:txPr>
        <c:crossAx val="48650112"/>
        <c:crossBetween val="between"/>
        <c:majorUnit val="6"/>
      </c:valAx>
      <c:spPr>
        <a:solidFill xmlns:a="http://schemas.openxmlformats.org/drawingml/2006/main">
          <a:srgbClr val="FAFAF7"/>
        </a:solidFill>
        <a:ln xmlns:a="http://schemas.openxmlformats.org/drawingml/2006/main" w="0">
          <a:noFill/>
        </a:ln>
      </c:spPr>
    </c:plotArea>
    <c:plotVisOnly val="1"/>
  </c:chart>
  <c:spPr>
    <a:solidFill xmlns:a="http://schemas.openxmlformats.org/drawingml/2006/main">
      <a:srgbClr val="FAFAF7"/>
    </a:solidFill>
    <a:ln xmlns:a="http://schemas.openxmlformats.org/drawingml/2006/main" w="0">
      <a:noFill/>
    </a:ln>
  </c:spPr>
  <c:externalData r:id="rIdChartSnapshot1">
    <c:autoUpdate val="0"/>
  </c:externalData>
</c:chartSpace>
</file>

<file path=ppt/slides/slide1.xml><?xml version="1.0" encoding="utf-8"?>
<ns0:sld xmlns:ns0="http://schemas.openxmlformats.org/presentationml/2006/main" xmlns:ns1="http://schemas.openxmlformats.org/drawingml/2006/main" xmlns:ns2="http://schemas.microsoft.com/office/drawing/2014/main" xmlns:ns3="http://schemas.openxmlformats.org/officeDocument/2006/relationships" xmlns:ns4="http://schemas.microsoft.com/office/powerpoint/2010/main">
  <ns0:cSld>
    <ns0:bg>
      <ns0:bgPr>
        <ns1:solidFill>
          <ns1:srgbClr val="FAFAF7"/>
        </ns1:solidFill>
      </ns0:bgPr>
    </ns0:bg>
    <ns0:spTree>
      <ns0:nvGrpSpPr>
        <ns0:cNvPr id="1" name=""/>
        <ns0:cNvGrpSpPr/>
        <ns0:nvPr/>
      </ns0:nvGrpSpPr>
      <ns0:grpSpPr>
        <ns1:xfrm/>
      </ns0:grpSpPr>
      <ns0:sp>
        <ns0:nvSpPr>
          <ns0:cNvPr id="8" name="Title">
            <ns1:extLst>
              <ns1:ext uri="{FF2B5EF4-FFF2-40B4-BE49-F238E27FC236}">
                <ns2:creationId id="{8316EADD-C521-4D85-8C5F-3E9DDCEA8DD2}"/>
              </ns1:ext>
            </ns1:extLst>
          </ns0:cNvPr>
          <ns0:cNvSpPr>
            <ns1:spLocks noGrp="1"/>
          </ns0:cNvSpPr>
          <ns0:nvPr>
            <ns0:ph type="title"/>
          </ns0:nvPr>
        </ns0:nvSpPr>
        <ns0:spPr>
          <ns1:xfrm>
            <ns1:off x="685800" y="361950"/>
            <ns1:ext cx="10820400" cy="1352550"/>
          </ns1:xfrm>
          <ns1:prstGeom prst="rect">
            <ns1:avLst/>
          </ns1:prstGeom>
          <ns1:noFill/>
          <ns1:ln w="0">
            <ns1:noFill/>
          </ns1:ln>
        </ns0:spPr>
        <ns0:txBody>
          <ns1:bodyPr wrap="square" lIns="0" tIns="0" rIns="0" bIns="0">
            <ns1:noAutofit/>
          </ns1:bodyPr>
          <ns1:lstStyle/>
          <ns1:p>
            <ns1:pPr>
              <ns1:defRPr sz="4200" b="1">
                <ns1:solidFill>
                  <ns1:srgbClr val="173042"/>
                </ns1:solidFill>
                <ns1:latin typeface="DejaVu Sans"/>
                <ns1:ea typeface="DejaVu Sans"/>
                <ns1:cs typeface="DejaVu Sans"/>
              </ns1:defRPr>
            </ns1:pPr>
            <ns1:r>
              <ns1:rPr sz="4200" b="1">
                <ns1:solidFill>
                  <ns1:srgbClr val="173042"/>
                </ns1:solidFill>
                <ns1:latin typeface="DejaVu Sans"/>
                <ns1:ea typeface="DejaVu Sans"/>
                <ns1:cs typeface="DejaVu Sans"/>
              </ns1:rPr>
              <ns1:t>A four-week extension for the intake pilot</ns1:t>
            </ns1:r>
          </ns1:p>
        </ns0:txBody>
      </ns0:sp>
      <ns0:sp>
        <ns0:nvSpPr>
          <ns0:cNvPr id="2" name="Lead">
            <ns1:extLst>
              <ns1:ext uri="{FF2B5EF4-FFF2-40B4-BE49-F238E27FC236}">
                <ns2:creationId id="{8C3F9D6E-A2C7-43F9-8847-72BAF23AD615}"/>
              </ns1:ext>
            </ns1:extLst>
          </ns0:cNvPr>
          <ns0:cNvSpPr>
            <ns1:spLocks noGrp="1"/>
          </ns0:cNvSpPr>
          <ns0:nvPr/>
        </ns0:nvSpPr>
        <ns0:spPr>
          <ns1:xfrm>
            <ns1:off x="685800" y="1952625"/>
            <ns1:ext cx="10820400" cy="552450"/>
          </ns1:xfrm>
          <ns1:prstGeom prst="rect">
            <ns1:avLst/>
          </ns1:prstGeom>
          <ns1:noFill/>
          <ns1:ln w="0">
            <ns1:noFill/>
          </ns1:ln>
        </ns0:spPr>
        <ns0:txBody>
          <ns1:bodyPr wrap="square" lIns="0" tIns="0" rIns="0" bIns="0">
            <ns1:noAutofit/>
          </ns1:bodyPr>
          <ns1:lstStyle/>
          <ns1:p>
            <ns1:pPr>
              <ns1:defRPr sz="2250" b="1">
                <ns1:solidFill>
                  <ns1:srgbClr val="145A7A"/>
                </ns1:solidFill>
                <ns1:latin typeface="DejaVu Sans"/>
                <ns1:ea typeface="DejaVu Sans"/>
                <ns1:cs typeface="DejaVu Sans"/>
              </ns1:defRPr>
            </ns1:pPr>
            <ns1:r>
              <ns1:rPr sz="2250" b="1">
                <ns1:solidFill>
                  <ns1:srgbClr val="145A7A"/>
                </ns1:solidFill>
                <ns1:latin typeface="DejaVu Sans"/>
                <ns1:ea typeface="DejaVu Sans"/>
                <ns1:cs typeface="DejaVu Sans"/>
              </ns1:rPr>
              <ns1:t>Decision requested: October 5–30, 2026</ns1:t>
            </ns1:r>
          </ns1:p>
        </ns0:txBody>
      </ns0:sp>
      <ns0:sp>
        <ns0:nvSpPr>
          <ns0:cNvPr id="3" name="Body 1">
            <ns1:extLst>
              <ns1:ext uri="{FF2B5EF4-FFF2-40B4-BE49-F238E27FC236}">
                <ns2:creationId id="{6AFB107F-7107-4E68-BD97-FFEE9CC418C1}"/>
              </ns1:ext>
            </ns1:extLst>
          </ns0:cNvPr>
          <ns0:cNvSpPr>
            <ns1:spLocks noGrp="1"/>
          </ns0:cNvSpPr>
          <ns0:nvPr/>
        </ns0:nvSpPr>
        <ns0:spPr>
          <ns1:xfrm>
            <ns1:off x="685800" y="2857500"/>
            <ns1:ext cx="10820400" cy="666750"/>
          </ns1:xfrm>
          <ns1:prstGeom prst="rect">
            <ns1:avLst/>
          </ns1:prstGeom>
          <ns1:noFill/>
          <ns1:ln w="0">
            <ns1:noFill/>
          </ns1:ln>
        </ns0:spPr>
        <ns0:txBody>
          <ns1:bodyPr wrap="square" lIns="0" tIns="0" rIns="0" bIns="0">
            <ns1:noAutofit/>
          </ns1:bodyPr>
          <ns1:lstStyle/>
          <ns1:p>
            <ns1:pPr>
              <ns1:defRPr sz="2400" b="0">
                <ns1:solidFill>
                  <ns1:srgbClr val="173042"/>
                </ns1:solidFill>
                <ns1:latin typeface="DejaVu Sans"/>
                <ns1:ea typeface="DejaVu Sans"/>
                <ns1:cs typeface="DejaVu Sans"/>
              </ns1:defRPr>
            </ns1:pPr>
            <ns1:r>
              <ns1:rPr sz="2400" b="0">
                <ns1:solidFill>
                  <ns1:srgbClr val="173042"/>
                </ns1:solidFill>
                <ns1:latin typeface="DejaVu Sans"/>
                <ns1:ea typeface="DejaVu Sans"/>
                <ns1:cs typeface="DejaVu Sans"/>
              </ns1:rPr>
              <ns1:t>One queue, with the same checklist</ns1:t>
            </ns1:r>
          </ns1:p>
        </ns0:txBody>
      </ns0:sp>
      <ns0:sp>
        <ns0:nvSpPr>
          <ns0:cNvPr id="4" name="Body 2">
            <ns1:extLst>
              <ns1:ext uri="{FF2B5EF4-FFF2-40B4-BE49-F238E27FC236}">
                <ns2:creationId id="{C02AB486-BDB3-408F-AF28-6F528C9B2FA1}"/>
              </ns1:ext>
            </ns1:extLst>
          </ns0:cNvPr>
          <ns0:cNvSpPr>
            <ns1:spLocks noGrp="1"/>
          </ns0:cNvSpPr>
          <ns0:nvPr/>
        </ns0:nvSpPr>
        <ns0:spPr>
          <ns1:xfrm>
            <ns1:off x="685800" y="3600450"/>
            <ns1:ext cx="10820400" cy="666750"/>
          </ns1:xfrm>
          <ns1:prstGeom prst="rect">
            <ns1:avLst/>
          </ns1:prstGeom>
          <ns1:noFill/>
          <ns1:ln w="0">
            <ns1:noFill/>
          </ns1:ln>
        </ns0:spPr>
        <ns0:txBody>
          <ns1:bodyPr wrap="square" lIns="0" tIns="0" rIns="0" bIns="0">
            <ns1:noAutofit/>
          </ns1:bodyPr>
          <ns1:lstStyle/>
          <ns1:p>
            <ns1:pPr>
              <ns1:defRPr sz="2400" b="0">
                <ns1:solidFill>
                  <ns1:srgbClr val="173042"/>
                </ns1:solidFill>
                <ns1:latin typeface="DejaVu Sans"/>
                <ns1:ea typeface="DejaVu Sans"/>
                <ns1:cs typeface="DejaVu Sans"/>
              </ns1:defRPr>
            </ns1:pPr>
            <ns1:r>
              <ns1:rPr sz="2400" b="0">
                <ns1:solidFill>
                  <ns1:srgbClr val="173042"/>
                </ns1:solidFill>
                <ns1:latin typeface="DejaVu Sans"/>
                <ns1:ea typeface="DejaVu Sans"/>
                <ns1:cs typeface="DejaVu Sans"/>
              </ns1:rPr>
              <ns1:t>Proposed cap: 8 staff-hours per week from existing coverage</ns1:t>
            </ns1:r>
          </ns1:p>
        </ns0:txBody>
      </ns0:sp>
      <ns0:sp>
        <ns0:nvSpPr>
          <ns0:cNvPr id="5" name="Body 3">
            <ns1:extLst>
              <ns1:ext uri="{FF2B5EF4-FFF2-40B4-BE49-F238E27FC236}">
                <ns2:creationId id="{14CB49F2-88E2-4991-AA15-F0DA91D2E4B7}"/>
              </ns1:ext>
            </ns1:extLst>
          </ns0:cNvPr>
          <ns0:cNvSpPr>
            <ns1:spLocks noGrp="1"/>
          </ns0:cNvSpPr>
          <ns0:nvPr/>
        </ns0:nvSpPr>
        <ns0:spPr>
          <ns1:xfrm>
            <ns1:off x="685800" y="4343400"/>
            <ns1:ext cx="10820400" cy="666750"/>
          </ns1:xfrm>
          <ns1:prstGeom prst="rect">
            <ns1:avLst/>
          </ns1:prstGeom>
          <ns1:noFill/>
          <ns1:ln w="0">
            <ns1:noFill/>
          </ns1:ln>
        </ns0:spPr>
        <ns0:txBody>
          <ns1:bodyPr wrap="square" lIns="0" tIns="0" rIns="0" bIns="0">
            <ns1:noAutofit/>
          </ns1:bodyPr>
          <ns1:lstStyle/>
          <ns1:p>
            <ns1:pPr>
              <ns1:defRPr sz="2400" b="0">
                <ns1:solidFill>
                  <ns1:srgbClr val="173042"/>
                </ns1:solidFill>
                <ns1:latin typeface="DejaVu Sans"/>
                <ns1:ea typeface="DejaVu Sans"/>
                <ns1:cs typeface="DejaVu Sans"/>
              </ns1:defRPr>
            </ns1:pPr>
            <ns1:r>
              <ns1:rPr sz="2400" b="0">
                <ns1:solidFill>
                  <ns1:srgbClr val="173042"/>
                </ns1:solidFill>
                <ns1:latin typeface="DejaVu Sans"/>
                <ns1:ea typeface="DejaVu Sans"/>
                <ns1:cs typeface="DejaVu Sans"/>
              </ns1:rPr>
              <ns1:t>No additional spending requested</ns1:t>
            </ns1:r>
          </ns1:p>
        </ns0:txBody>
      </ns0:sp>
      <ns0:sp>
        <ns0:nvSpPr>
          <ns0:cNvPr id="6" name="Caveat">
            <ns1:extLst>
              <ns1:ext uri="{FF2B5EF4-FFF2-40B4-BE49-F238E27FC236}">
                <ns2:creationId id="{912E6DB5-B53E-4948-B1E2-A4DE4AA2F6E7}"/>
              </ns1:ext>
            </ns1:extLst>
          </ns0:cNvPr>
          <ns0:cNvSpPr>
            <ns1:spLocks noGrp="1"/>
          </ns0:cNvSpPr>
          <ns0:nvPr/>
        </ns0:nvSpPr>
        <ns0:spPr>
          <ns1:xfrm>
            <ns1:off x="685800" y="5629275"/>
            <ns1:ext cx="10820400" cy="609600"/>
          </ns1:xfrm>
          <ns1:prstGeom prst="rect">
            <ns1:avLst/>
          </ns1:prstGeom>
          <ns1:noFill/>
          <ns1:ln w="0">
            <ns1:noFill/>
          </ns1:ln>
        </ns0:spPr>
        <ns0:txBody>
          <ns1:bodyPr wrap="square" lIns="0" tIns="0" rIns="0" bIns="0">
            <ns1:noAutofit/>
          </ns1:bodyPr>
          <ns1:lstStyle/>
          <ns1:p>
            <ns1:pPr>
              <ns1:defRPr sz="1800" b="0">
                <ns1:solidFill>
                  <ns1:srgbClr val="455968"/>
                </ns1:solidFill>
                <ns1:latin typeface="DejaVu Sans"/>
                <ns1:ea typeface="DejaVu Sans"/>
                <ns1:cs typeface="DejaVu Sans"/>
              </ns1:defRPr>
            </ns1:pPr>
            <ns1:r>
              <ns1:rPr sz="1800" b="0">
                <ns1:solidFill>
                  <ns1:srgbClr val="455968"/>
                </ns1:solidFill>
                <ns1:latin typeface="DejaVu Sans"/>
                <ns1:ea typeface="DejaVu Sans"/>
                <ns1:cs typeface="DejaVu Sans"/>
              </ns1:rPr>
              <ns1:t>Recommendation only. The extension and staffing remain unapproved.</ns1:t>
            </ns1:r>
          </ns1:p>
        </ns0:txBody>
      </ns0:sp>
      <ns0:sp>
        <ns0:nvSpPr>
          <ns0:cNvPr id="7" name="Sources">
            <ns1:extLst>
              <ns1:ext uri="{FF2B5EF4-FFF2-40B4-BE49-F238E27FC236}">
                <ns2:creationId id="{E429BC44-1253-48AE-BED8-BAB5D2AFCFB9}"/>
              </ns1:ext>
            </ns1:extLst>
          </ns0:cNvPr>
          <ns0:cNvSpPr>
            <ns1:spLocks noGrp="1"/>
          </ns0:cNvSpPr>
          <ns0:nvPr/>
        </ns0:nvSpPr>
        <ns0:spPr>
          <ns1:xfrm>
            <ns1:off x="685800" y="6419850"/>
            <ns1:ext cx="10820400" cy="304800"/>
          </ns1:xfrm>
          <ns1:prstGeom prst="rect">
            <ns1:avLst/>
          </ns1:prstGeom>
          <ns1:noFill/>
          <ns1:ln w="0">
            <ns1:noFill/>
          </ns1:ln>
        </ns0:spPr>
        <ns0:txBody>
          <ns1:bodyPr wrap="square" lIns="0" tIns="0" rIns="0" bIns="0">
            <ns1:noAutofit/>
          </ns1:bodyPr>
          <ns1:lstStyle/>
          <ns1:p>
            <ns1:pPr>
              <ns1:defRPr sz="1800" b="0">
                <ns1:solidFill>
                  <ns1:srgbClr val="455968"/>
                </ns1:solidFill>
                <ns1:latin typeface="DejaVu Sans"/>
                <ns1:ea typeface="DejaVu Sans"/>
                <ns1:cs typeface="DejaVu Sans"/>
              </ns1:defRPr>
            </ns1:pPr>
            <ns1:r>
              <ns1:rPr sz="1800" b="0">
                <ns1:solidFill>
                  <ns1:srgbClr val="455968"/>
                </ns1:solidFill>
                <ns1:latin typeface="DejaVu Sans"/>
                <ns1:ea typeface="DejaVu Sans"/>
                <ns1:cs typeface="DejaVu Sans"/>
              </ns1:rPr>
              <ns1:t>Fictional example. Sources </ns1:t>
            </ns1:r>
            <ns1:r>
              <ns1:rPr sz="1800" b="0">
                <ns1:solidFill>
                  <ns1:srgbClr val="455968"/>
                </ns1:solidFill>
                <ns1:latin typeface="DejaVu Sans"/>
                <ns1:ea typeface="DejaVu Sans"/>
                <ns1:cs typeface="DejaVu Sans"/>
                <ns1:hlinkClick ns3:id="R5728551af14843f0"/>
              </ns1:rPr>
              <ns1:t>S0</ns1:t>
            </ns1:r>
            <ns1:r>
              <ns1:rPr sz="1800" b="0">
                <ns1:solidFill>
                  <ns1:srgbClr val="455968"/>
                </ns1:solidFill>
                <ns1:latin typeface="DejaVu Sans"/>
                <ns1:ea typeface="DejaVu Sans"/>
                <ns1:cs typeface="DejaVu Sans"/>
              </ns1:rPr>
              <ns1:t>, </ns1:t>
            </ns1:r>
            <ns1:r>
              <ns1:rPr sz="1800" b="0">
                <ns1:solidFill>
                  <ns1:srgbClr val="455968"/>
                </ns1:solidFill>
                <ns1:latin typeface="DejaVu Sans"/>
                <ns1:ea typeface="DejaVu Sans"/>
                <ns1:cs typeface="DejaVu Sans"/>
                <ns1:hlinkClick ns3:id="R4d2de9a1082646cb"/>
              </ns1:rPr>
              <ns1:t>S3</ns1:t>
            </ns1:r>
            <ns1:r>
              <ns1:rPr sz="1800" b="0">
                <ns1:solidFill>
                  <ns1:srgbClr val="455968"/>
                </ns1:solidFill>
                <ns1:latin typeface="DejaVu Sans"/>
                <ns1:ea typeface="DejaVu Sans"/>
                <ns1:cs typeface="DejaVu Sans"/>
              </ns1:rPr>
              <ns1:t>. 1/5</ns1:t>
            </ns1:r>
          </ns1:p>
        </ns0:txBody>
      </ns0:sp>
    </ns0:spTree>
    <ns0:extLst>
      <ns0:ext uri="{BB962C8B-B14F-4D97-AF65-F5344CB8AC3E}">
        <ns4:creationId val="1939821716"/>
      </ns0:ext>
    </ns0:extLst>
  </ns0:cSld>
</ns0:sld>
</file>

<file path=ppt/slides/slide2.xml><?xml version="1.0" encoding="utf-8"?>
<ns0:sld xmlns:ns0="http://schemas.openxmlformats.org/presentationml/2006/main" xmlns:ns1="http://schemas.openxmlformats.org/drawingml/2006/main" xmlns:ns2="http://schemas.microsoft.com/office/drawing/2014/main" xmlns:ns3="http://schemas.openxmlformats.org/drawingml/2006/chart" xmlns:ns4="http://schemas.openxmlformats.org/officeDocument/2006/relationships" xmlns:ns5="http://schemas.microsoft.com/office/powerpoint/2010/main">
  <ns0:cSld>
    <ns0:bg>
      <ns0:bgPr>
        <ns1:solidFill>
          <ns1:srgbClr val="FAFAF7"/>
        </ns1:solidFill>
      </ns0:bgPr>
    </ns0:bg>
    <ns0:spTree>
      <ns0:nvGrpSpPr>
        <ns0:cNvPr id="1" name=""/>
        <ns0:cNvGrpSpPr/>
        <ns0:nvPr/>
      </ns0:nvGrpSpPr>
      <ns0:grpSpPr>
        <ns1:xfrm/>
      </ns0:grpSpPr>
      <ns0:sp>
        <ns0:nvSpPr>
          <ns0:cNvPr id="7" name="Title">
            <ns1:extLst>
              <ns1:ext uri="{FF2B5EF4-FFF2-40B4-BE49-F238E27FC236}">
                <ns2:creationId id="{D42D0ED0-34F9-461C-B0B7-96B8281E16E3}"/>
              </ns1:ext>
            </ns1:extLst>
          </ns0:cNvPr>
          <ns0:cNvSpPr>
            <ns1:spLocks noGrp="1"/>
          </ns0:cNvSpPr>
          <ns0:nvPr>
            <ns0:ph type="title"/>
          </ns0:nvPr>
        </ns0:nvSpPr>
        <ns0:spPr>
          <ns1:xfrm>
            <ns1:off x="685800" y="361950"/>
            <ns1:ext cx="10820400" cy="1066800"/>
          </ns1:xfrm>
          <ns1:prstGeom prst="rect">
            <ns1:avLst/>
          </ns1:prstGeom>
          <ns1:noFill/>
          <ns1:ln w="0">
            <ns1:noFill/>
          </ns1:ln>
        </ns0:spPr>
        <ns0:txBody>
          <ns1:bodyPr wrap="square" lIns="0" tIns="0" rIns="0" bIns="0">
            <ns1:noAutofit/>
          </ns1:bodyPr>
          <ns1:lstStyle/>
          <ns1:p>
            <ns1:pPr>
              <ns1:defRPr sz="3600" b="1">
                <ns1:solidFill>
                  <ns1:srgbClr val="173042"/>
                </ns1:solidFill>
                <ns1:latin typeface="DejaVu Sans"/>
                <ns1:ea typeface="DejaVu Sans"/>
                <ns1:cs typeface="DejaVu Sans"/>
              </ns1:defRPr>
            </ns1:pPr>
            <ns1:r>
              <ns1:rPr sz="3600" b="1">
                <ns1:solidFill>
                  <ns1:srgbClr val="173042"/>
                </ns1:solidFill>
                <ns1:latin typeface="DejaVu Sans"/>
                <ns1:ea typeface="DejaVu Sans"/>
                <ns1:cs typeface="DejaVu Sans"/>
              </ns1:rPr>
              <ns1:t>The observed median was six hours lower</ns1:t>
            </ns1:r>
          </ns1:p>
        </ns0:txBody>
      </ns0:sp>
      <ns0:sp>
        <ns0:nvSpPr>
          <ns0:cNvPr id="2" name="Lead">
            <ns1:extLst>
              <ns1:ext uri="{FF2B5EF4-FFF2-40B4-BE49-F238E27FC236}">
                <ns2:creationId id="{0E33E97F-F6CA-40C3-93B7-9C73A5818E0F}"/>
              </ns1:ext>
            </ns1:extLst>
          </ns0:cNvPr>
          <ns0:cNvSpPr>
            <ns1:spLocks noGrp="1"/>
          </ns0:cNvSpPr>
          <ns0:nvPr/>
        </ns0:nvSpPr>
        <ns0:spPr>
          <ns1:xfrm>
            <ns1:off x="685800" y="1581150"/>
            <ns1:ext cx="10820400" cy="552450"/>
          </ns1:xfrm>
          <ns1:prstGeom prst="rect">
            <ns1:avLst/>
          </ns1:prstGeom>
          <ns1:noFill/>
          <ns1:ln w="0">
            <ns1:noFill/>
          </ns1:ln>
        </ns0:spPr>
        <ns0:txBody>
          <ns1:bodyPr wrap="square" lIns="0" tIns="0" rIns="0" bIns="0">
            <ns1:noAutofit/>
          </ns1:bodyPr>
          <ns1:lstStyle/>
          <ns1:p>
            <ns1:pPr>
              <ns1:defRPr sz="2250" b="1">
                <ns1:solidFill>
                  <ns1:srgbClr val="145A7A"/>
                </ns1:solidFill>
                <ns1:latin typeface="DejaVu Sans"/>
                <ns1:ea typeface="DejaVu Sans"/>
                <ns1:cs typeface="DejaVu Sans"/>
              </ns1:defRPr>
            </ns1:pPr>
            <ns1:r>
              <ns1:rPr sz="2250" b="1">
                <ns1:solidFill>
                  <ns1:srgbClr val="145A7A"/>
                </ns1:solidFill>
                <ns1:latin typeface="DejaVu Sans"/>
                <ns1:ea typeface="DejaVu Sans"/>
                <ns1:cs typeface="DejaVu Sans"/>
              </ns1:rPr>
              <ns1:t>Median elapsed hours to first completed response</ns1:t>
            </ns1:r>
          </ns1:p>
        </ns0:txBody>
      </ns0:sp>
      <ns0:graphicFrame>
        <ns0:nvGraphicFramePr>
          <ns0:cNvPr id="9" name="Median elapsed hours to first completed response" descr="Baseline: 18 hours for 40 completed requests. Pilot: 12 hours for 60 completed requests. Consecutive, nonrandom weeks do not establish cause."/>
          <ns0:cNvGraphicFramePr/>
          <ns0:nvPr/>
        </ns0:nvGraphicFramePr>
        <ns0:xfrm>
          <ns1:off x="685800" y="2152650"/>
          <ns1:ext cx="10820400" cy="2762250"/>
        </ns0:xfrm>
        <ns1:graphic>
          <ns1:graphicData uri="http://schemas.openxmlformats.org/drawingml/2006/chart">
            <ns3:chart ns4:id="R482c1b98a3e048a4"/>
          </ns1:graphicData>
        </ns1:graphic>
      </ns0:graphicFrame>
      <ns0:sp>
        <ns0:nvSpPr>
          <ns0:cNvPr id="4" name="Window">
            <ns1:extLst>
              <ns1:ext uri="{FF2B5EF4-FFF2-40B4-BE49-F238E27FC236}">
                <ns2:creationId id="{0536DA79-2679-4B1E-8832-521DF5EAEA13}"/>
              </ns1:ext>
            </ns1:extLst>
          </ns0:cNvPr>
          <ns0:cNvSpPr>
            <ns1:spLocks noGrp="1"/>
          </ns0:cNvSpPr>
          <ns0:nvPr/>
        </ns0:nvSpPr>
        <ns0:spPr>
          <ns1:xfrm>
            <ns1:off x="685800" y="4953000"/>
            <ns1:ext cx="10820400" cy="552450"/>
          </ns1:xfrm>
          <ns1:prstGeom prst="rect">
            <ns1:avLst/>
          </ns1:prstGeom>
          <ns1:noFill/>
          <ns1:ln w="0">
            <ns1:noFill/>
          </ns1:ln>
        </ns0:spPr>
        <ns0:txBody>
          <ns1:bodyPr wrap="square" lIns="0" tIns="0" rIns="0" bIns="0">
            <ns1:noAutofit/>
          </ns1:bodyPr>
          <ns1:lstStyle/>
          <ns1:p>
            <ns1:pPr>
              <ns1:defRPr sz="1800" b="0">
                <ns1:solidFill>
                  <ns1:srgbClr val="455968"/>
                </ns1:solidFill>
                <ns1:latin typeface="DejaVu Sans"/>
                <ns1:ea typeface="DejaVu Sans"/>
                <ns1:cs typeface="DejaVu Sans"/>
              </ns1:defRPr>
            </ns1:pPr>
            <ns1:r>
              <ns1:rPr sz="1800" b="0">
                <ns1:solidFill>
                  <ns1:srgbClr val="455968"/>
                </ns1:solidFill>
                <ns1:latin typeface="DejaVu Sans"/>
                <ns1:ea typeface="DejaVu Sans"/>
                <ns1:cs typeface="DejaVu Sans"/>
              </ns1:rPr>
              <ns1:t>Baseline: September 7–11, 2026; pilot: September 14–18, 2026</ns1:t>
            </ns1:r>
          </ns1:p>
        </ns0:txBody>
      </ns0:sp>
      <ns0:sp>
        <ns0:nvSpPr>
          <ns0:cNvPr id="5" name="Caveat">
            <ns1:extLst>
              <ns1:ext uri="{FF2B5EF4-FFF2-40B4-BE49-F238E27FC236}">
                <ns2:creationId id="{D6D7E208-E723-4907-8889-04C88B1B3355}"/>
              </ns1:ext>
            </ns1:extLst>
          </ns0:cNvPr>
          <ns0:cNvSpPr>
            <ns1:spLocks noGrp="1"/>
          </ns0:cNvSpPr>
          <ns0:nvPr/>
        </ns0:nvSpPr>
        <ns0:spPr>
          <ns1:xfrm>
            <ns1:off x="685800" y="5629275"/>
            <ns1:ext cx="10820400" cy="609600"/>
          </ns1:xfrm>
          <ns1:prstGeom prst="rect">
            <ns1:avLst/>
          </ns1:prstGeom>
          <ns1:noFill/>
          <ns1:ln w="0">
            <ns1:noFill/>
          </ns1:ln>
        </ns0:spPr>
        <ns0:txBody>
          <ns1:bodyPr wrap="square" lIns="0" tIns="0" rIns="0" bIns="0">
            <ns1:noAutofit/>
          </ns1:bodyPr>
          <ns1:lstStyle/>
          <ns1:p>
            <ns1:pPr>
              <ns1:defRPr sz="1800" b="0">
                <ns1:solidFill>
                  <ns1:srgbClr val="455968"/>
                </ns1:solidFill>
                <ns1:latin typeface="DejaVu Sans"/>
                <ns1:ea typeface="DejaVu Sans"/>
                <ns1:cs typeface="DejaVu Sans"/>
              </ns1:defRPr>
            </ns1:pPr>
            <ns1:r>
              <ns1:rPr sz="1800" b="0">
                <ns1:solidFill>
                  <ns1:srgbClr val="455968"/>
                </ns1:solidFill>
                <ns1:latin typeface="DejaVu Sans"/>
                <ns1:ea typeface="DejaVu Sans"/>
                <ns1:cs typeface="DejaVu Sans"/>
              </ns1:rPr>
              <ns1:t>Completed requests only. Consecutive, nonrandom weeks do not establish cause.</ns1:t>
            </ns1:r>
          </ns1:p>
        </ns0:txBody>
      </ns0:sp>
      <ns0:sp>
        <ns0:nvSpPr>
          <ns0:cNvPr id="6" name="Sources">
            <ns1:extLst>
              <ns1:ext uri="{FF2B5EF4-FFF2-40B4-BE49-F238E27FC236}">
                <ns2:creationId id="{91435354-5CAD-4EA9-8DC9-D8D77AD1F686}"/>
              </ns1:ext>
            </ns1:extLst>
          </ns0:cNvPr>
          <ns0:cNvSpPr>
            <ns1:spLocks noGrp="1"/>
          </ns0:cNvSpPr>
          <ns0:nvPr/>
        </ns0:nvSpPr>
        <ns0:spPr>
          <ns1:xfrm>
            <ns1:off x="685800" y="6419850"/>
            <ns1:ext cx="10820400" cy="304800"/>
          </ns1:xfrm>
          <ns1:prstGeom prst="rect">
            <ns1:avLst/>
          </ns1:prstGeom>
          <ns1:noFill/>
          <ns1:ln w="0">
            <ns1:noFill/>
          </ns1:ln>
        </ns0:spPr>
        <ns0:txBody>
          <ns1:bodyPr wrap="square" lIns="0" tIns="0" rIns="0" bIns="0">
            <ns1:noAutofit/>
          </ns1:bodyPr>
          <ns1:lstStyle/>
          <ns1:p>
            <ns1:pPr>
              <ns1:defRPr sz="1800" b="0">
                <ns1:solidFill>
                  <ns1:srgbClr val="455968"/>
                </ns1:solidFill>
                <ns1:latin typeface="DejaVu Sans"/>
                <ns1:ea typeface="DejaVu Sans"/>
                <ns1:cs typeface="DejaVu Sans"/>
              </ns1:defRPr>
            </ns1:pPr>
            <ns1:r>
              <ns1:rPr sz="1800" b="0">
                <ns1:solidFill>
                  <ns1:srgbClr val="455968"/>
                </ns1:solidFill>
                <ns1:latin typeface="DejaVu Sans"/>
                <ns1:ea typeface="DejaVu Sans"/>
                <ns1:cs typeface="DejaVu Sans"/>
              </ns1:rPr>
              <ns1:t>Fictional example. Sources </ns1:t>
            </ns1:r>
            <ns1:r>
              <ns1:rPr sz="1800" b="0">
                <ns1:solidFill>
                  <ns1:srgbClr val="455968"/>
                </ns1:solidFill>
                <ns1:latin typeface="DejaVu Sans"/>
                <ns1:ea typeface="DejaVu Sans"/>
                <ns1:cs typeface="DejaVu Sans"/>
                <ns1:hlinkClick ns4:id="R949377eeda7b464e"/>
              </ns1:rPr>
              <ns1:t>S1</ns1:t>
            </ns1:r>
            <ns1:r>
              <ns1:rPr sz="1800" b="0">
                <ns1:solidFill>
                  <ns1:srgbClr val="455968"/>
                </ns1:solidFill>
                <ns1:latin typeface="DejaVu Sans"/>
                <ns1:ea typeface="DejaVu Sans"/>
                <ns1:cs typeface="DejaVu Sans"/>
              </ns1:rPr>
              <ns1:t>, </ns1:t>
            </ns1:r>
            <ns1:r>
              <ns1:rPr sz="1800" b="0">
                <ns1:solidFill>
                  <ns1:srgbClr val="455968"/>
                </ns1:solidFill>
                <ns1:latin typeface="DejaVu Sans"/>
                <ns1:ea typeface="DejaVu Sans"/>
                <ns1:cs typeface="DejaVu Sans"/>
                <ns1:hlinkClick ns4:id="R820215be51c94c9b"/>
              </ns1:rPr>
              <ns1:t>S2</ns1:t>
            </ns1:r>
            <ns1:r>
              <ns1:rPr sz="1800" b="0">
                <ns1:solidFill>
                  <ns1:srgbClr val="455968"/>
                </ns1:solidFill>
                <ns1:latin typeface="DejaVu Sans"/>
                <ns1:ea typeface="DejaVu Sans"/>
                <ns1:cs typeface="DejaVu Sans"/>
              </ns1:rPr>
              <ns1:t>. 2/5</ns1:t>
            </ns1:r>
          </ns1:p>
        </ns0:txBody>
      </ns0:sp>
    </ns0:spTree>
    <ns0:extLst>
      <ns0:ext uri="{BB962C8B-B14F-4D97-AF65-F5344CB8AC3E}">
        <ns5:creationId val="107062275"/>
      </ns0:ext>
    </ns0:extLst>
  </ns0:cSld>
</ns0:sld>
</file>

<file path=ppt/slides/slide3.xml><?xml version="1.0" encoding="utf-8"?>
<ns0:sld xmlns:ns0="http://schemas.openxmlformats.org/presentationml/2006/main" xmlns:ns1="http://schemas.openxmlformats.org/drawingml/2006/main" xmlns:ns2="http://schemas.microsoft.com/office/drawing/2014/main" xmlns:ns3="http://schemas.openxmlformats.org/officeDocument/2006/relationships" xmlns:ns4="http://schemas.microsoft.com/office/powerpoint/2010/main">
  <ns0:cSld>
    <ns0:bg>
      <ns0:bgPr>
        <ns1:solidFill>
          <ns1:srgbClr val="FAFAF7"/>
        </ns1:solidFill>
      </ns0:bgPr>
    </ns0:bg>
    <ns0:spTree>
      <ns0:nvGrpSpPr>
        <ns0:cNvPr id="1" name=""/>
        <ns0:cNvGrpSpPr/>
        <ns0:nvPr/>
      </ns0:nvGrpSpPr>
      <ns0:grpSpPr>
        <ns1:xfrm/>
      </ns0:grpSpPr>
      <ns0:sp>
        <ns0:nvSpPr>
          <ns0:cNvPr id="13" name="Title">
            <ns1:extLst>
              <ns1:ext uri="{FF2B5EF4-FFF2-40B4-BE49-F238E27FC236}">
                <ns2:creationId id="{52A19EAC-9041-4420-9C5F-D4FD97A572C5}"/>
              </ns1:ext>
            </ns1:extLst>
          </ns0:cNvPr>
          <ns0:cNvSpPr>
            <ns1:spLocks noGrp="1"/>
          </ns0:cNvSpPr>
          <ns0:nvPr>
            <ns0:ph type="title"/>
          </ns0:nvPr>
        </ns0:nvSpPr>
        <ns0:spPr>
          <ns1:xfrm>
            <ns1:off x="685800" y="361950"/>
            <ns1:ext cx="10820400" cy="1066800"/>
          </ns1:xfrm>
          <ns1:prstGeom prst="rect">
            <ns1:avLst/>
          </ns1:prstGeom>
          <ns1:noFill/>
          <ns1:ln w="0">
            <ns1:noFill/>
          </ns1:ln>
        </ns0:spPr>
        <ns0:txBody>
          <ns1:bodyPr wrap="square" lIns="0" tIns="0" rIns="0" bIns="0">
            <ns1:noAutofit/>
          </ns1:bodyPr>
          <ns1:lstStyle/>
          <ns1:p>
            <ns1:pPr>
              <ns1:defRPr sz="3600" b="1">
                <ns1:solidFill>
                  <ns1:srgbClr val="173042"/>
                </ns1:solidFill>
                <ns1:latin typeface="DejaVu Sans"/>
                <ns1:ea typeface="DejaVu Sans"/>
                <ns1:cs typeface="DejaVu Sans"/>
              </ns1:defRPr>
            </ns1:pPr>
            <ns1:r>
              <ns1:rPr sz="3600" b="1">
                <ns1:solidFill>
                  <ns1:srgbClr val="173042"/>
                </ns1:solidFill>
                <ns1:latin typeface="DejaVu Sans"/>
                <ns1:ea typeface="DejaVu Sans"/>
                <ns1:cs typeface="DejaVu Sans"/>
              </ns1:rPr>
              <ns1:t>Reopenings leave quality unresolved</ns1:t>
            </ns1:r>
          </ns1:p>
        </ns0:txBody>
      </ns0:sp>
      <ns0:sp>
        <ns0:nvSpPr>
          <ns0:cNvPr id="2" name="Lead">
            <ns1:extLst>
              <ns1:ext uri="{FF2B5EF4-FFF2-40B4-BE49-F238E27FC236}">
                <ns2:creationId id="{8885ACBA-E24C-44D4-AB43-2CD6DD1F20C3}"/>
              </ns1:ext>
            </ns1:extLst>
          </ns0:cNvPr>
          <ns0:cNvSpPr>
            <ns1:spLocks noGrp="1"/>
          </ns0:cNvSpPr>
          <ns0:nvPr/>
        </ns0:nvSpPr>
        <ns0:spPr>
          <ns1:xfrm>
            <ns1:off x="685800" y="1581150"/>
            <ns1:ext cx="10820400" cy="552450"/>
          </ns1:xfrm>
          <ns1:prstGeom prst="rect">
            <ns1:avLst/>
          </ns1:prstGeom>
          <ns1:noFill/>
          <ns1:ln w="0">
            <ns1:noFill/>
          </ns1:ln>
        </ns0:spPr>
        <ns0:txBody>
          <ns1:bodyPr wrap="square" lIns="0" tIns="0" rIns="0" bIns="0">
            <ns1:noAutofit/>
          </ns1:bodyPr>
          <ns1:lstStyle/>
          <ns1:p>
            <ns1:pPr>
              <ns1:defRPr sz="2250" b="1">
                <ns1:solidFill>
                  <ns1:srgbClr val="145A7A"/>
                </ns1:solidFill>
                <ns1:latin typeface="DejaVu Sans"/>
                <ns1:ea typeface="DejaVu Sans"/>
                <ns1:cs typeface="DejaVu Sans"/>
              </ns1:defRPr>
            </ns1:pPr>
            <ns1:r>
              <ns1:rPr sz="2250" b="1">
                <ns1:solidFill>
                  <ns1:srgbClr val="145A7A"/>
                </ns1:solidFill>
                <ns1:latin typeface="DejaVu Sans"/>
                <ns1:ea typeface="DejaVu Sans"/>
                <ns1:cs typeface="DejaVu Sans"/>
              </ns1:rPr>
              <ns1:t>Requests reopened within seven calendar days</ns1:t>
            </ns1:r>
          </ns1:p>
        </ns0:txBody>
      </ns0:sp>
      <ns0:sp>
        <ns0:nvSpPr>
          <ns0:cNvPr id="3" name="Sample 1">
            <ns1:extLst>
              <ns1:ext uri="{FF2B5EF4-FFF2-40B4-BE49-F238E27FC236}">
                <ns2:creationId id="{9188211B-2A9C-4465-8206-C3392E7717B2}"/>
              </ns1:ext>
            </ns1:extLst>
          </ns0:cNvPr>
          <ns0:cNvSpPr>
            <ns1:spLocks noGrp="1"/>
          </ns0:cNvSpPr>
          <ns0:nvPr/>
        </ns0:nvSpPr>
        <ns0:spPr>
          <ns1:xfrm>
            <ns1:off x="685800" y="2343150"/>
            <ns1:ext cx="5048250" cy="457200"/>
          </ns1:xfrm>
          <ns1:prstGeom prst="rect">
            <ns1:avLst/>
          </ns1:prstGeom>
          <ns1:noFill/>
          <ns1:ln w="0">
            <ns1:noFill/>
          </ns1:ln>
        </ns0:spPr>
        <ns0:txBody>
          <ns1:bodyPr wrap="square" lIns="0" tIns="0" rIns="0" bIns="0">
            <ns1:noAutofit/>
          </ns1:bodyPr>
          <ns1:lstStyle/>
          <ns1:p>
            <ns1:pPr>
              <ns1:defRPr sz="2250" b="1">
                <ns1:solidFill>
                  <ns1:srgbClr val="145A7A"/>
                </ns1:solidFill>
                <ns1:latin typeface="DejaVu Sans"/>
                <ns1:ea typeface="DejaVu Sans"/>
                <ns1:cs typeface="DejaVu Sans"/>
              </ns1:defRPr>
            </ns1:pPr>
            <ns1:r>
              <ns1:rPr sz="2250" b="1">
                <ns1:solidFill>
                  <ns1:srgbClr val="145A7A"/>
                </ns1:solidFill>
                <ns1:latin typeface="DejaVu Sans"/>
                <ns1:ea typeface="DejaVu Sans"/>
                <ns1:cs typeface="DejaVu Sans"/>
              </ns1:rPr>
              <ns1:t>Baseline</ns1:t>
            </ns1:r>
          </ns1:p>
        </ns0:txBody>
      </ns0:sp>
      <ns0:sp>
        <ns0:nvSpPr>
          <ns0:cNvPr id="4" name="Count 1">
            <ns1:extLst>
              <ns1:ext uri="{FF2B5EF4-FFF2-40B4-BE49-F238E27FC236}">
                <ns2:creationId id="{8A81A77A-BBB5-4F57-B6CE-58114406588E}"/>
              </ns1:ext>
            </ns1:extLst>
          </ns0:cNvPr>
          <ns0:cNvSpPr>
            <ns1:spLocks noGrp="1"/>
          </ns0:cNvSpPr>
          <ns0:nvPr/>
        </ns0:nvSpPr>
        <ns0:spPr>
          <ns1:xfrm>
            <ns1:off x="685800" y="2762250"/>
            <ns1:ext cx="5048250" cy="819150"/>
          </ns1:xfrm>
          <ns1:prstGeom prst="rect">
            <ns1:avLst/>
          </ns1:prstGeom>
          <ns1:noFill/>
          <ns1:ln w="0">
            <ns1:noFill/>
          </ns1:ln>
        </ns0:spPr>
        <ns0:txBody>
          <ns1:bodyPr wrap="square" lIns="0" tIns="0" rIns="0" bIns="0">
            <ns1:noAutofit/>
          </ns1:bodyPr>
          <ns1:lstStyle/>
          <ns1:p>
            <ns1:pPr>
              <ns1:defRPr sz="5400" b="1">
                <ns1:solidFill>
                  <ns1:srgbClr val="173042"/>
                </ns1:solidFill>
                <ns1:latin typeface="DejaVu Sans"/>
                <ns1:ea typeface="DejaVu Sans"/>
                <ns1:cs typeface="DejaVu Sans"/>
              </ns1:defRPr>
            </ns1:pPr>
            <ns1:r>
              <ns1:rPr sz="5400" b="1">
                <ns1:solidFill>
                  <ns1:srgbClr val="173042"/>
                </ns1:solidFill>
                <ns1:latin typeface="DejaVu Sans"/>
                <ns1:ea typeface="DejaVu Sans"/>
                <ns1:cs typeface="DejaVu Sans"/>
              </ns1:rPr>
              <ns1:t>4 / 40</ns1:t>
            </ns1:r>
          </ns1:p>
        </ns0:txBody>
      </ns0:sp>
      <ns0:sp>
        <ns0:nvSpPr>
          <ns0:cNvPr id="5" name="Rate 1">
            <ns1:extLst>
              <ns1:ext uri="{FF2B5EF4-FFF2-40B4-BE49-F238E27FC236}">
                <ns2:creationId id="{B17F2E62-7AC9-40DF-AE0A-C138ACB4587A}"/>
              </ns1:ext>
            </ns1:extLst>
          </ns0:cNvPr>
          <ns0:cNvSpPr>
            <ns1:spLocks noGrp="1"/>
          </ns0:cNvSpPr>
          <ns0:nvPr/>
        </ns0:nvSpPr>
        <ns0:spPr>
          <ns1:xfrm>
            <ns1:off x="685800" y="3705225"/>
            <ns1:ext cx="5048250" cy="457200"/>
          </ns1:xfrm>
          <ns1:prstGeom prst="rect">
            <ns1:avLst/>
          </ns1:prstGeom>
          <ns1:noFill/>
          <ns1:ln w="0">
            <ns1:noFill/>
          </ns1:ln>
        </ns0:spPr>
        <ns0:txBody>
          <ns1:bodyPr wrap="square" lIns="0" tIns="0" rIns="0" bIns="0">
            <ns1:noAutofit/>
          </ns1:bodyPr>
          <ns1:lstStyle/>
          <ns1:p>
            <ns1:pPr>
              <ns1:defRPr sz="2100" b="0">
                <ns1:solidFill>
                  <ns1:srgbClr val="173042"/>
                </ns1:solidFill>
                <ns1:latin typeface="DejaVu Sans"/>
                <ns1:ea typeface="DejaVu Sans"/>
                <ns1:cs typeface="DejaVu Sans"/>
              </ns1:defRPr>
            </ns1:pPr>
            <ns1:r>
              <ns1:rPr sz="2100" b="0">
                <ns1:solidFill>
                  <ns1:srgbClr val="173042"/>
                </ns1:solidFill>
                <ns1:latin typeface="DejaVu Sans"/>
                <ns1:ea typeface="DejaVu Sans"/>
                <ns1:cs typeface="DejaVu Sans"/>
              </ns1:rPr>
              <ns1:t>10.0% of completed requests</ns1:t>
            </ns1:r>
          </ns1:p>
        </ns0:txBody>
      </ns0:sp>
      <ns0:sp>
        <ns0:nvSpPr>
          <ns0:cNvPr id="6" name="Sample 2">
            <ns1:extLst>
              <ns1:ext uri="{FF2B5EF4-FFF2-40B4-BE49-F238E27FC236}">
                <ns2:creationId id="{E8187FE0-A41B-45C5-9426-C3EF3D8032D1}"/>
              </ns1:ext>
            </ns1:extLst>
          </ns0:cNvPr>
          <ns0:cNvSpPr>
            <ns1:spLocks noGrp="1"/>
          </ns0:cNvSpPr>
          <ns0:nvPr/>
        </ns0:nvSpPr>
        <ns0:spPr>
          <ns1:xfrm>
            <ns1:off x="6305550" y="2343150"/>
            <ns1:ext cx="5048250" cy="457200"/>
          </ns1:xfrm>
          <ns1:prstGeom prst="rect">
            <ns1:avLst/>
          </ns1:prstGeom>
          <ns1:noFill/>
          <ns1:ln w="0">
            <ns1:noFill/>
          </ns1:ln>
        </ns0:spPr>
        <ns0:txBody>
          <ns1:bodyPr wrap="square" lIns="0" tIns="0" rIns="0" bIns="0">
            <ns1:noAutofit/>
          </ns1:bodyPr>
          <ns1:lstStyle/>
          <ns1:p>
            <ns1:pPr>
              <ns1:defRPr sz="2250" b="1">
                <ns1:solidFill>
                  <ns1:srgbClr val="145A7A"/>
                </ns1:solidFill>
                <ns1:latin typeface="DejaVu Sans"/>
                <ns1:ea typeface="DejaVu Sans"/>
                <ns1:cs typeface="DejaVu Sans"/>
              </ns1:defRPr>
            </ns1:pPr>
            <ns1:r>
              <ns1:rPr sz="2250" b="1">
                <ns1:solidFill>
                  <ns1:srgbClr val="145A7A"/>
                </ns1:solidFill>
                <ns1:latin typeface="DejaVu Sans"/>
                <ns1:ea typeface="DejaVu Sans"/>
                <ns1:cs typeface="DejaVu Sans"/>
              </ns1:rPr>
              <ns1:t>Pilot</ns1:t>
            </ns1:r>
          </ns1:p>
        </ns0:txBody>
      </ns0:sp>
      <ns0:sp>
        <ns0:nvSpPr>
          <ns0:cNvPr id="7" name="Count 2">
            <ns1:extLst>
              <ns1:ext uri="{FF2B5EF4-FFF2-40B4-BE49-F238E27FC236}">
                <ns2:creationId id="{BD0DB6AA-7768-4408-80EE-1FF2B4CEC26F}"/>
              </ns1:ext>
            </ns1:extLst>
          </ns0:cNvPr>
          <ns0:cNvSpPr>
            <ns1:spLocks noGrp="1"/>
          </ns0:cNvSpPr>
          <ns0:nvPr/>
        </ns0:nvSpPr>
        <ns0:spPr>
          <ns1:xfrm>
            <ns1:off x="6305550" y="2762250"/>
            <ns1:ext cx="5048250" cy="819150"/>
          </ns1:xfrm>
          <ns1:prstGeom prst="rect">
            <ns1:avLst/>
          </ns1:prstGeom>
          <ns1:noFill/>
          <ns1:ln w="0">
            <ns1:noFill/>
          </ns1:ln>
        </ns0:spPr>
        <ns0:txBody>
          <ns1:bodyPr wrap="square" lIns="0" tIns="0" rIns="0" bIns="0">
            <ns1:noAutofit/>
          </ns1:bodyPr>
          <ns1:lstStyle/>
          <ns1:p>
            <ns1:pPr>
              <ns1:defRPr sz="5400" b="1">
                <ns1:solidFill>
                  <ns1:srgbClr val="173042"/>
                </ns1:solidFill>
                <ns1:latin typeface="DejaVu Sans"/>
                <ns1:ea typeface="DejaVu Sans"/>
                <ns1:cs typeface="DejaVu Sans"/>
              </ns1:defRPr>
            </ns1:pPr>
            <ns1:r>
              <ns1:rPr sz="5400" b="1">
                <ns1:solidFill>
                  <ns1:srgbClr val="173042"/>
                </ns1:solidFill>
                <ns1:latin typeface="DejaVu Sans"/>
                <ns1:ea typeface="DejaVu Sans"/>
                <ns1:cs typeface="DejaVu Sans"/>
              </ns1:rPr>
              <ns1:t>7 / 60</ns1:t>
            </ns1:r>
          </ns1:p>
        </ns0:txBody>
      </ns0:sp>
      <ns0:sp>
        <ns0:nvSpPr>
          <ns0:cNvPr id="8" name="Rate 2">
            <ns1:extLst>
              <ns1:ext uri="{FF2B5EF4-FFF2-40B4-BE49-F238E27FC236}">
                <ns2:creationId id="{DA60E272-38F2-4380-85CC-6689016D1B9D}"/>
              </ns1:ext>
            </ns1:extLst>
          </ns0:cNvPr>
          <ns0:cNvSpPr>
            <ns1:spLocks noGrp="1"/>
          </ns0:cNvSpPr>
          <ns0:nvPr/>
        </ns0:nvSpPr>
        <ns0:spPr>
          <ns1:xfrm>
            <ns1:off x="6305550" y="3705225"/>
            <ns1:ext cx="5048250" cy="457200"/>
          </ns1:xfrm>
          <ns1:prstGeom prst="rect">
            <ns1:avLst/>
          </ns1:prstGeom>
          <ns1:noFill/>
          <ns1:ln w="0">
            <ns1:noFill/>
          </ns1:ln>
        </ns0:spPr>
        <ns0:txBody>
          <ns1:bodyPr wrap="square" lIns="0" tIns="0" rIns="0" bIns="0">
            <ns1:noAutofit/>
          </ns1:bodyPr>
          <ns1:lstStyle/>
          <ns1:p>
            <ns1:pPr>
              <ns1:defRPr sz="2100" b="0">
                <ns1:solidFill>
                  <ns1:srgbClr val="173042"/>
                </ns1:solidFill>
                <ns1:latin typeface="DejaVu Sans"/>
                <ns1:ea typeface="DejaVu Sans"/>
                <ns1:cs typeface="DejaVu Sans"/>
              </ns1:defRPr>
            </ns1:pPr>
            <ns1:r>
              <ns1:rPr sz="2100" b="0">
                <ns1:solidFill>
                  <ns1:srgbClr val="173042"/>
                </ns1:solidFill>
                <ns1:latin typeface="DejaVu Sans"/>
                <ns1:ea typeface="DejaVu Sans"/>
                <ns1:cs typeface="DejaVu Sans"/>
              </ns1:rPr>
              <ns1:t>11.7% of completed requests</ns1:t>
            </ns1:r>
          </ns1:p>
        </ns0:txBody>
      </ns0:sp>
      <ns0:sp>
        <ns0:nvSpPr>
          <ns0:cNvPr id="9" name="Body 1">
            <ns1:extLst>
              <ns1:ext uri="{FF2B5EF4-FFF2-40B4-BE49-F238E27FC236}">
                <ns2:creationId id="{FCD55903-D583-4E41-9E88-964BC9B1F121}"/>
              </ns1:ext>
            </ns1:extLst>
          </ns0:cNvPr>
          <ns0:cNvSpPr>
            <ns1:spLocks noGrp="1"/>
          </ns0:cNvSpPr>
          <ns0:nvPr/>
        </ns0:nvSpPr>
        <ns0:spPr>
          <ns1:xfrm>
            <ns1:off x="685800" y="4438650"/>
            <ns1:ext cx="10820400" cy="476250"/>
          </ns1:xfrm>
          <ns1:prstGeom prst="rect">
            <ns1:avLst/>
          </ns1:prstGeom>
          <ns1:noFill/>
          <ns1:ln w="0">
            <ns1:noFill/>
          </ns1:ln>
        </ns0:spPr>
        <ns0:txBody>
          <ns1:bodyPr wrap="square" lIns="0" tIns="0" rIns="0" bIns="0">
            <ns1:noAutofit/>
          </ns1:bodyPr>
          <ns1:lstStyle/>
          <ns1:p>
            <ns1:pPr>
              <ns1:defRPr sz="2100" b="0">
                <ns1:solidFill>
                  <ns1:srgbClr val="173042"/>
                </ns1:solidFill>
                <ns1:latin typeface="DejaVu Sans"/>
                <ns1:ea typeface="DejaVu Sans"/>
                <ns1:cs typeface="DejaVu Sans"/>
              </ns1:defRPr>
            </ns1:pPr>
            <ns1:r>
              <ns1:rPr sz="2100" b="0">
                <ns1:solidFill>
                  <ns1:srgbClr val="173042"/>
                </ns1:solidFill>
                <ns1:latin typeface="DejaVu Sans"/>
                <ns1:ea typeface="DejaVu Sans"/>
                <ns1:cs typeface="DejaVu Sans"/>
              </ns1:rPr>
              <ns1:t>All completions have the full seven-day follow-up</ns1:t>
            </ns1:r>
          </ns1:p>
        </ns0:txBody>
      </ns0:sp>
      <ns0:sp>
        <ns0:nvSpPr>
          <ns0:cNvPr id="10" name="Body 2">
            <ns1:extLst>
              <ns1:ext uri="{FF2B5EF4-FFF2-40B4-BE49-F238E27FC236}">
                <ns2:creationId id="{64E51C6A-8100-47DA-A72D-A5C14211C84A}"/>
              </ns1:ext>
            </ns1:extLst>
          </ns0:cNvPr>
          <ns0:cNvSpPr>
            <ns1:spLocks noGrp="1"/>
          </ns0:cNvSpPr>
          <ns0:nvPr/>
        </ns0:nvSpPr>
        <ns0:spPr>
          <ns1:xfrm>
            <ns1:off x="685800" y="4953000"/>
            <ns1:ext cx="10820400" cy="476250"/>
          </ns1:xfrm>
          <ns1:prstGeom prst="rect">
            <ns1:avLst/>
          </ns1:prstGeom>
          <ns1:noFill/>
          <ns1:ln w="0">
            <ns1:noFill/>
          </ns1:ln>
        </ns0:spPr>
        <ns0:txBody>
          <ns1:bodyPr wrap="square" lIns="0" tIns="0" rIns="0" bIns="0">
            <ns1:noAutofit/>
          </ns1:bodyPr>
          <ns1:lstStyle/>
          <ns1:p>
            <ns1:pPr>
              <ns1:defRPr sz="2100" b="0">
                <ns1:solidFill>
                  <ns1:srgbClr val="173042"/>
                </ns1:solidFill>
                <ns1:latin typeface="DejaVu Sans"/>
                <ns1:ea typeface="DejaVu Sans"/>
                <ns1:cs typeface="DejaVu Sans"/>
              </ns1:defRPr>
            </ns1:pPr>
            <ns1:r>
              <ns1:rPr sz="2100" b="0">
                <ns1:solidFill>
                  <ns1:srgbClr val="173042"/>
                </ns1:solidFill>
                <ns1:latin typeface="DejaVu Sans"/>
                <ns1:ea typeface="DejaVu Sans"/>
                <ns1:cs typeface="DejaVu Sans"/>
              </ns1:rPr>
              <ns1:t>Request mix and case complexity were not recorded</ns1:t>
            </ns1:r>
          </ns1:p>
        </ns0:txBody>
      </ns0:sp>
      <ns0:sp>
        <ns0:nvSpPr>
          <ns0:cNvPr id="11" name="Caveat">
            <ns1:extLst>
              <ns1:ext uri="{FF2B5EF4-FFF2-40B4-BE49-F238E27FC236}">
                <ns2:creationId id="{C1AFD2EB-BFB7-4613-814A-22B6C2A39EB3}"/>
              </ns1:ext>
            </ns1:extLst>
          </ns0:cNvPr>
          <ns0:cNvSpPr>
            <ns1:spLocks noGrp="1"/>
          </ns0:cNvSpPr>
          <ns0:nvPr/>
        </ns0:nvSpPr>
        <ns0:spPr>
          <ns1:xfrm>
            <ns1:off x="685800" y="5629275"/>
            <ns1:ext cx="10820400" cy="609600"/>
          </ns1:xfrm>
          <ns1:prstGeom prst="rect">
            <ns1:avLst/>
          </ns1:prstGeom>
          <ns1:noFill/>
          <ns1:ln w="0">
            <ns1:noFill/>
          </ns1:ln>
        </ns0:spPr>
        <ns0:txBody>
          <ns1:bodyPr wrap="square" lIns="0" tIns="0" rIns="0" bIns="0">
            <ns1:noAutofit/>
          </ns1:bodyPr>
          <ns1:lstStyle/>
          <ns1:p>
            <ns1:pPr>
              <ns1:defRPr sz="1800" b="0">
                <ns1:solidFill>
                  <ns1:srgbClr val="455968"/>
                </ns1:solidFill>
                <ns1:latin typeface="DejaVu Sans"/>
                <ns1:ea typeface="DejaVu Sans"/>
                <ns1:cs typeface="DejaVu Sans"/>
              </ns1:defRPr>
            </ns1:pPr>
            <ns1:r>
              <ns1:rPr sz="1800" b="0">
                <ns1:solidFill>
                  <ns1:srgbClr val="455968"/>
                </ns1:solidFill>
                <ns1:latin typeface="DejaVu Sans"/>
                <ns1:ea typeface="DejaVu Sans"/>
                <ns1:cs typeface="DejaVu Sans"/>
              </ns1:rPr>
              <ns1:t>Small, unmatched samples do not establish unchanged quality.</ns1:t>
            </ns1:r>
          </ns1:p>
        </ns0:txBody>
      </ns0:sp>
      <ns0:sp>
        <ns0:nvSpPr>
          <ns0:cNvPr id="12" name="Sources">
            <ns1:extLst>
              <ns1:ext uri="{FF2B5EF4-FFF2-40B4-BE49-F238E27FC236}">
                <ns2:creationId id="{DA81FDEA-80A6-4456-BB94-B9F7E1A6BE98}"/>
              </ns1:ext>
            </ns1:extLst>
          </ns0:cNvPr>
          <ns0:cNvSpPr>
            <ns1:spLocks noGrp="1"/>
          </ns0:cNvSpPr>
          <ns0:nvPr/>
        </ns0:nvSpPr>
        <ns0:spPr>
          <ns1:xfrm>
            <ns1:off x="685800" y="6419850"/>
            <ns1:ext cx="10820400" cy="304800"/>
          </ns1:xfrm>
          <ns1:prstGeom prst="rect">
            <ns1:avLst/>
          </ns1:prstGeom>
          <ns1:noFill/>
          <ns1:ln w="0">
            <ns1:noFill/>
          </ns1:ln>
        </ns0:spPr>
        <ns0:txBody>
          <ns1:bodyPr wrap="square" lIns="0" tIns="0" rIns="0" bIns="0">
            <ns1:noAutofit/>
          </ns1:bodyPr>
          <ns1:lstStyle/>
          <ns1:p>
            <ns1:pPr>
              <ns1:defRPr sz="1800" b="0">
                <ns1:solidFill>
                  <ns1:srgbClr val="455968"/>
                </ns1:solidFill>
                <ns1:latin typeface="DejaVu Sans"/>
                <ns1:ea typeface="DejaVu Sans"/>
                <ns1:cs typeface="DejaVu Sans"/>
              </ns1:defRPr>
            </ns1:pPr>
            <ns1:r>
              <ns1:rPr sz="1800" b="0">
                <ns1:solidFill>
                  <ns1:srgbClr val="455968"/>
                </ns1:solidFill>
                <ns1:latin typeface="DejaVu Sans"/>
                <ns1:ea typeface="DejaVu Sans"/>
                <ns1:cs typeface="DejaVu Sans"/>
              </ns1:rPr>
              <ns1:t>Fictional example. Sources </ns1:t>
            </ns1:r>
            <ns1:r>
              <ns1:rPr sz="1800" b="0">
                <ns1:solidFill>
                  <ns1:srgbClr val="455968"/>
                </ns1:solidFill>
                <ns1:latin typeface="DejaVu Sans"/>
                <ns1:ea typeface="DejaVu Sans"/>
                <ns1:cs typeface="DejaVu Sans"/>
                <ns1:hlinkClick ns3:id="R302443a5423141db"/>
              </ns1:rPr>
              <ns1:t>S1</ns1:t>
            </ns1:r>
            <ns1:r>
              <ns1:rPr sz="1800" b="0">
                <ns1:solidFill>
                  <ns1:srgbClr val="455968"/>
                </ns1:solidFill>
                <ns1:latin typeface="DejaVu Sans"/>
                <ns1:ea typeface="DejaVu Sans"/>
                <ns1:cs typeface="DejaVu Sans"/>
              </ns1:rPr>
              <ns1:t>, </ns1:t>
            </ns1:r>
            <ns1:r>
              <ns1:rPr sz="1800" b="0">
                <ns1:solidFill>
                  <ns1:srgbClr val="455968"/>
                </ns1:solidFill>
                <ns1:latin typeface="DejaVu Sans"/>
                <ns1:ea typeface="DejaVu Sans"/>
                <ns1:cs typeface="DejaVu Sans"/>
                <ns1:hlinkClick ns3:id="R88c83be55b7d49e5"/>
              </ns1:rPr>
              <ns1:t>S2</ns1:t>
            </ns1:r>
            <ns1:r>
              <ns1:rPr sz="1800" b="0">
                <ns1:solidFill>
                  <ns1:srgbClr val="455968"/>
                </ns1:solidFill>
                <ns1:latin typeface="DejaVu Sans"/>
                <ns1:ea typeface="DejaVu Sans"/>
                <ns1:cs typeface="DejaVu Sans"/>
              </ns1:rPr>
              <ns1:t>. 3/5</ns1:t>
            </ns1:r>
          </ns1:p>
        </ns0:txBody>
      </ns0:sp>
    </ns0:spTree>
    <ns0:extLst>
      <ns0:ext uri="{BB962C8B-B14F-4D97-AF65-F5344CB8AC3E}">
        <ns4:creationId val="598944684"/>
      </ns0:ext>
    </ns0:extLst>
  </ns0:cSld>
</ns0:sld>
</file>

<file path=ppt/slides/slide4.xml><?xml version="1.0" encoding="utf-8"?>
<ns0:sld xmlns:ns0="http://schemas.openxmlformats.org/presentationml/2006/main" xmlns:ns1="http://schemas.openxmlformats.org/drawingml/2006/main" xmlns:ns2="http://schemas.microsoft.com/office/drawing/2014/main" xmlns:ns3="http://schemas.openxmlformats.org/officeDocument/2006/relationships" xmlns:ns4="http://schemas.microsoft.com/office/powerpoint/2010/main">
  <ns0:cSld>
    <ns0:bg>
      <ns0:bgPr>
        <ns1:solidFill>
          <ns1:srgbClr val="FAFAF7"/>
        </ns1:solidFill>
      </ns0:bgPr>
    </ns0:bg>
    <ns0:spTree>
      <ns0:nvGrpSpPr>
        <ns0:cNvPr id="1" name=""/>
        <ns0:cNvGrpSpPr/>
        <ns0:nvPr/>
      </ns0:nvGrpSpPr>
      <ns0:grpSpPr>
        <ns1:xfrm/>
      </ns0:grpSpPr>
      <ns0:sp>
        <ns0:nvSpPr>
          <ns0:cNvPr id="8" name="Title">
            <ns1:extLst>
              <ns1:ext uri="{FF2B5EF4-FFF2-40B4-BE49-F238E27FC236}">
                <ns2:creationId id="{82B5EC45-D9FD-4E51-A8D8-7F396CE365D7}"/>
              </ns1:ext>
            </ns1:extLst>
          </ns0:cNvPr>
          <ns0:cNvSpPr>
            <ns1:spLocks noGrp="1"/>
          </ns0:cNvSpPr>
          <ns0:nvPr>
            <ns0:ph type="title"/>
          </ns0:nvPr>
        </ns0:nvSpPr>
        <ns0:spPr>
          <ns1:xfrm>
            <ns1:off x="685800" y="361950"/>
            <ns1:ext cx="10820400" cy="1066800"/>
          </ns1:xfrm>
          <ns1:prstGeom prst="rect">
            <ns1:avLst/>
          </ns1:prstGeom>
          <ns1:noFill/>
          <ns1:ln w="0">
            <ns1:noFill/>
          </ns1:ln>
        </ns0:spPr>
        <ns0:txBody>
          <ns1:bodyPr wrap="square" lIns="0" tIns="0" rIns="0" bIns="0">
            <ns1:noAutofit/>
          </ns1:bodyPr>
          <ns1:lstStyle/>
          <ns1:p>
            <ns1:pPr>
              <ns1:defRPr sz="3600" b="1">
                <ns1:solidFill>
                  <ns1:srgbClr val="173042"/>
                </ns1:solidFill>
                <ns1:latin typeface="DejaVu Sans"/>
                <ns1:ea typeface="DejaVu Sans"/>
                <ns1:cs typeface="DejaVu Sans"/>
              </ns1:defRPr>
            </ns1:pPr>
            <ns1:r>
              <ns1:rPr sz="3600" b="1">
                <ns1:solidFill>
                  <ns1:srgbClr val="173042"/>
                </ns1:solidFill>
                <ns1:latin typeface="DejaVu Sans"/>
                <ns1:ea typeface="DejaVu Sans"/>
                <ns1:cs typeface="DejaVu Sans"/>
              </ns1:rPr>
              <ns1:t>The extension would close measurement gaps</ns1:t>
            </ns1:r>
          </ns1:p>
        </ns0:txBody>
      </ns0:sp>
      <ns0:sp>
        <ns0:nvSpPr>
          <ns0:cNvPr id="2" name="Lead">
            <ns1:extLst>
              <ns1:ext uri="{FF2B5EF4-FFF2-40B4-BE49-F238E27FC236}">
                <ns2:creationId id="{D34BD098-88A7-4D38-8738-63FF8AE91A72}"/>
              </ns1:ext>
            </ns1:extLst>
          </ns0:cNvPr>
          <ns0:cNvSpPr>
            <ns1:spLocks noGrp="1"/>
          </ns0:cNvSpPr>
          <ns0:nvPr/>
        </ns0:nvSpPr>
        <ns0:spPr>
          <ns1:xfrm>
            <ns1:off x="685800" y="1581150"/>
            <ns1:ext cx="10820400" cy="552450"/>
          </ns1:xfrm>
          <ns1:prstGeom prst="rect">
            <ns1:avLst/>
          </ns1:prstGeom>
          <ns1:noFill/>
          <ns1:ln w="0">
            <ns1:noFill/>
          </ns1:ln>
        </ns0:spPr>
        <ns0:txBody>
          <ns1:bodyPr wrap="square" lIns="0" tIns="0" rIns="0" bIns="0">
            <ns1:noAutofit/>
          </ns1:bodyPr>
          <ns1:lstStyle/>
          <ns1:p>
            <ns1:pPr>
              <ns1:defRPr sz="2250" b="1">
                <ns1:solidFill>
                  <ns1:srgbClr val="145A7A"/>
                </ns1:solidFill>
                <ns1:latin typeface="DejaVu Sans"/>
                <ns1:ea typeface="DejaVu Sans"/>
                <ns1:cs typeface="DejaVu Sans"/>
              </ns1:defRPr>
            </ns1:pPr>
            <ns1:r>
              <ns1:rPr sz="2250" b="1">
                <ns1:solidFill>
                  <ns1:srgbClr val="145A7A"/>
                </ns1:solidFill>
                <ns1:latin typeface="DejaVu Sans"/>
                <ns1:ea typeface="DejaVu Sans"/>
                <ns1:cs typeface="DejaVu Sans"/>
              </ns1:rPr>
              <ns1:t>Proposed responsibilities, subject to approval</ns1:t>
            </ns1:r>
          </ns1:p>
        </ns0:txBody>
      </ns0:sp>
      <ns0:sp>
        <ns0:nvSpPr>
          <ns0:cNvPr id="3" name="Body 1">
            <ns1:extLst>
              <ns1:ext uri="{FF2B5EF4-FFF2-40B4-BE49-F238E27FC236}">
                <ns2:creationId id="{DDA72F7D-9336-427F-B02E-5509BB4D86F2}"/>
              </ns1:ext>
            </ns1:extLst>
          </ns0:cNvPr>
          <ns0:cNvSpPr>
            <ns1:spLocks noGrp="1"/>
          </ns0:cNvSpPr>
          <ns0:nvPr/>
        </ns0:nvSpPr>
        <ns0:spPr>
          <ns1:xfrm>
            <ns1:off x="685800" y="2295525"/>
            <ns1:ext cx="10820400" cy="942975"/>
          </ns1:xfrm>
          <ns1:prstGeom prst="rect">
            <ns1:avLst/>
          </ns1:prstGeom>
          <ns1:noFill/>
          <ns1:ln w="0">
            <ns1:noFill/>
          </ns1:ln>
        </ns0:spPr>
        <ns0:txBody>
          <ns1:bodyPr wrap="square" lIns="0" tIns="0" rIns="0" bIns="0">
            <ns1:noAutofit/>
          </ns1:bodyPr>
          <ns1:lstStyle/>
          <ns1:p>
            <ns1:pPr>
              <ns1:defRPr sz="2250" b="0">
                <ns1:solidFill>
                  <ns1:srgbClr val="173042"/>
                </ns1:solidFill>
                <ns1:latin typeface="DejaVu Sans"/>
                <ns1:ea typeface="DejaVu Sans"/>
                <ns1:cs typeface="DejaVu Sans"/>
              </ns1:defRPr>
            </ns1:pPr>
            <ns1:r>
              <ns1:rPr sz="2250" b="0">
                <ns1:solidFill>
                  <ns1:srgbClr val="173042"/>
                </ns1:solidFill>
                <ns1:latin typeface="DejaVu Sans"/>
                <ns1:ea typeface="DejaVu Sans"/>
                <ns1:cs typeface="DejaVu Sans"/>
              </ns1:rPr>
              <ns1:t>Operations lead: log completions, open and abandoned requests, and actual staff-hours</ns1:t>
            </ns1:r>
          </ns1:p>
        </ns0:txBody>
      </ns0:sp>
      <ns0:sp>
        <ns0:nvSpPr>
          <ns0:cNvPr id="4" name="Body 2">
            <ns1:extLst>
              <ns1:ext uri="{FF2B5EF4-FFF2-40B4-BE49-F238E27FC236}">
                <ns2:creationId id="{76688521-7F0F-4A91-9E56-C09E6CB96A2E}"/>
              </ns1:ext>
            </ns1:extLst>
          </ns0:cNvPr>
          <ns0:cNvSpPr>
            <ns1:spLocks noGrp="1"/>
          </ns0:cNvSpPr>
          <ns0:nvPr/>
        </ns0:nvSpPr>
        <ns0:spPr>
          <ns1:xfrm>
            <ns1:off x="685800" y="3314700"/>
            <ns1:ext cx="10820400" cy="942975"/>
          </ns1:xfrm>
          <ns1:prstGeom prst="rect">
            <ns1:avLst/>
          </ns1:prstGeom>
          <ns1:noFill/>
          <ns1:ln w="0">
            <ns1:noFill/>
          </ns1:ln>
        </ns0:spPr>
        <ns0:txBody>
          <ns1:bodyPr wrap="square" lIns="0" tIns="0" rIns="0" bIns="0">
            <ns1:noAutofit/>
          </ns1:bodyPr>
          <ns1:lstStyle/>
          <ns1:p>
            <ns1:pPr>
              <ns1:defRPr sz="2250" b="0">
                <ns1:solidFill>
                  <ns1:srgbClr val="173042"/>
                </ns1:solidFill>
                <ns1:latin typeface="DejaVu Sans"/>
                <ns1:ea typeface="DejaVu Sans"/>
                <ns1:cs typeface="DejaVu Sans"/>
              </ns1:defRPr>
            </ns1:pPr>
            <ns1:r>
              <ns1:rPr sz="2250" b="0">
                <ns1:solidFill>
                  <ns1:srgbClr val="173042"/>
                </ns1:solidFill>
                <ns1:latin typeface="DejaVu Sans"/>
                <ns1:ea typeface="DejaVu Sans"/>
                <ns1:cs typeface="DejaVu Sans"/>
              </ns1:rPr>
              <ns1:t>Quality lead: review reopened cases</ns1:t>
            </ns1:r>
          </ns1:p>
        </ns0:txBody>
      </ns0:sp>
      <ns0:sp>
        <ns0:nvSpPr>
          <ns0:cNvPr id="5" name="Body 3">
            <ns1:extLst>
              <ns1:ext uri="{FF2B5EF4-FFF2-40B4-BE49-F238E27FC236}">
                <ns2:creationId id="{73F603F6-CA3D-4E95-BF6C-CB1960A89BFE}"/>
              </ns1:ext>
            </ns1:extLst>
          </ns0:cNvPr>
          <ns0:cNvSpPr>
            <ns1:spLocks noGrp="1"/>
          </ns0:cNvSpPr>
          <ns0:nvPr/>
        </ns0:nvSpPr>
        <ns0:spPr>
          <ns1:xfrm>
            <ns1:off x="685800" y="4333875"/>
            <ns1:ext cx="10820400" cy="942975"/>
          </ns1:xfrm>
          <ns1:prstGeom prst="rect">
            <ns1:avLst/>
          </ns1:prstGeom>
          <ns1:noFill/>
          <ns1:ln w="0">
            <ns1:noFill/>
          </ns1:ln>
        </ns0:spPr>
        <ns0:txBody>
          <ns1:bodyPr wrap="square" lIns="0" tIns="0" rIns="0" bIns="0">
            <ns1:noAutofit/>
          </ns1:bodyPr>
          <ns1:lstStyle/>
          <ns1:p>
            <ns1:pPr>
              <ns1:defRPr sz="2250" b="0">
                <ns1:solidFill>
                  <ns1:srgbClr val="173042"/>
                </ns1:solidFill>
                <ns1:latin typeface="DejaVu Sans"/>
                <ns1:ea typeface="DejaVu Sans"/>
                <ns1:cs typeface="DejaVu Sans"/>
              </ns1:defRPr>
            </ns1:pPr>
            <ns1:r>
              <ns1:rPr sz="2250" b="0">
                <ns1:solidFill>
                  <ns1:srgbClr val="173042"/>
                </ns1:solidFill>
                <ns1:latin typeface="DejaVu Sans"/>
                <ns1:ea typeface="DejaVu Sans"/>
                <ns1:cs typeface="DejaVu Sans"/>
              </ns1:rPr>
              <ns1:t>November 6 review: complete seven-day follow-up for October 30 completions</ns1:t>
            </ns1:r>
          </ns1:p>
        </ns0:txBody>
      </ns0:sp>
      <ns0:sp>
        <ns0:nvSpPr>
          <ns0:cNvPr id="6" name="Caveat">
            <ns1:extLst>
              <ns1:ext uri="{FF2B5EF4-FFF2-40B4-BE49-F238E27FC236}">
                <ns2:creationId id="{59BCFB4F-3DC8-49A3-BE2C-19F62B07A0C2}"/>
              </ns1:ext>
            </ns1:extLst>
          </ns0:cNvPr>
          <ns0:cNvSpPr>
            <ns1:spLocks noGrp="1"/>
          </ns0:cNvSpPr>
          <ns0:nvPr/>
        </ns0:nvSpPr>
        <ns0:spPr>
          <ns1:xfrm>
            <ns1:off x="685800" y="5629275"/>
            <ns1:ext cx="10820400" cy="609600"/>
          </ns1:xfrm>
          <ns1:prstGeom prst="rect">
            <ns1:avLst/>
          </ns1:prstGeom>
          <ns1:noFill/>
          <ns1:ln w="0">
            <ns1:noFill/>
          </ns1:ln>
        </ns0:spPr>
        <ns0:txBody>
          <ns1:bodyPr wrap="square" lIns="0" tIns="0" rIns="0" bIns="0">
            <ns1:noAutofit/>
          </ns1:bodyPr>
          <ns1:lstStyle/>
          <ns1:p>
            <ns1:pPr>
              <ns1:defRPr sz="1800" b="0">
                <ns1:solidFill>
                  <ns1:srgbClr val="455968"/>
                </ns1:solidFill>
                <ns1:latin typeface="DejaVu Sans"/>
                <ns1:ea typeface="DejaVu Sans"/>
                <ns1:cs typeface="DejaVu Sans"/>
              </ns1:defRPr>
            </ns1:pPr>
            <ns1:r>
              <ns1:rPr sz="1800" b="0">
                <ns1:solidFill>
                  <ns1:srgbClr val="455968"/>
                </ns1:solidFill>
                <ns1:latin typeface="DejaVu Sans"/>
                <ns1:ea typeface="DejaVu Sans"/>
                <ns1:cs typeface="DejaVu Sans"/>
              </ns1:rPr>
              <ns1:t>The 8-hour weekly coverage cap is a proposal, not measured savings.</ns1:t>
            </ns1:r>
          </ns1:p>
        </ns0:txBody>
      </ns0:sp>
      <ns0:sp>
        <ns0:nvSpPr>
          <ns0:cNvPr id="7" name="Sources">
            <ns1:extLst>
              <ns1:ext uri="{FF2B5EF4-FFF2-40B4-BE49-F238E27FC236}">
                <ns2:creationId id="{5A62E366-6510-40E4-B120-56BE550DD73B}"/>
              </ns1:ext>
            </ns1:extLst>
          </ns0:cNvPr>
          <ns0:cNvSpPr>
            <ns1:spLocks noGrp="1"/>
          </ns0:cNvSpPr>
          <ns0:nvPr/>
        </ns0:nvSpPr>
        <ns0:spPr>
          <ns1:xfrm>
            <ns1:off x="685800" y="6419850"/>
            <ns1:ext cx="10820400" cy="304800"/>
          </ns1:xfrm>
          <ns1:prstGeom prst="rect">
            <ns1:avLst/>
          </ns1:prstGeom>
          <ns1:noFill/>
          <ns1:ln w="0">
            <ns1:noFill/>
          </ns1:ln>
        </ns0:spPr>
        <ns0:txBody>
          <ns1:bodyPr wrap="square" lIns="0" tIns="0" rIns="0" bIns="0">
            <ns1:noAutofit/>
          </ns1:bodyPr>
          <ns1:lstStyle/>
          <ns1:p>
            <ns1:pPr>
              <ns1:defRPr sz="1800" b="0">
                <ns1:solidFill>
                  <ns1:srgbClr val="455968"/>
                </ns1:solidFill>
                <ns1:latin typeface="DejaVu Sans"/>
                <ns1:ea typeface="DejaVu Sans"/>
                <ns1:cs typeface="DejaVu Sans"/>
              </ns1:defRPr>
            </ns1:pPr>
            <ns1:r>
              <ns1:rPr sz="1800" b="0">
                <ns1:solidFill>
                  <ns1:srgbClr val="455968"/>
                </ns1:solidFill>
                <ns1:latin typeface="DejaVu Sans"/>
                <ns1:ea typeface="DejaVu Sans"/>
                <ns1:cs typeface="DejaVu Sans"/>
              </ns1:rPr>
              <ns1:t>Fictional example. Sources </ns1:t>
            </ns1:r>
            <ns1:r>
              <ns1:rPr sz="1800" b="0">
                <ns1:solidFill>
                  <ns1:srgbClr val="455968"/>
                </ns1:solidFill>
                <ns1:latin typeface="DejaVu Sans"/>
                <ns1:ea typeface="DejaVu Sans"/>
                <ns1:cs typeface="DejaVu Sans"/>
                <ns1:hlinkClick ns3:id="Rd50785ad2be04c24"/>
              </ns1:rPr>
              <ns1:t>S2</ns1:t>
            </ns1:r>
            <ns1:r>
              <ns1:rPr sz="1800" b="0">
                <ns1:solidFill>
                  <ns1:srgbClr val="455968"/>
                </ns1:solidFill>
                <ns1:latin typeface="DejaVu Sans"/>
                <ns1:ea typeface="DejaVu Sans"/>
                <ns1:cs typeface="DejaVu Sans"/>
              </ns1:rPr>
              <ns1:t>, </ns1:t>
            </ns1:r>
            <ns1:r>
              <ns1:rPr sz="1800" b="0">
                <ns1:solidFill>
                  <ns1:srgbClr val="455968"/>
                </ns1:solidFill>
                <ns1:latin typeface="DejaVu Sans"/>
                <ns1:ea typeface="DejaVu Sans"/>
                <ns1:cs typeface="DejaVu Sans"/>
                <ns1:hlinkClick ns3:id="R3bd1f2d9cfd84580"/>
              </ns1:rPr>
              <ns1:t>S3</ns1:t>
            </ns1:r>
            <ns1:r>
              <ns1:rPr sz="1800" b="0">
                <ns1:solidFill>
                  <ns1:srgbClr val="455968"/>
                </ns1:solidFill>
                <ns1:latin typeface="DejaVu Sans"/>
                <ns1:ea typeface="DejaVu Sans"/>
                <ns1:cs typeface="DejaVu Sans"/>
              </ns1:rPr>
              <ns1:t>. 4/5</ns1:t>
            </ns1:r>
          </ns1:p>
        </ns0:txBody>
      </ns0:sp>
    </ns0:spTree>
    <ns0:extLst>
      <ns0:ext uri="{BB962C8B-B14F-4D97-AF65-F5344CB8AC3E}">
        <ns4:creationId val="1273535195"/>
      </ns0:ext>
    </ns0:extLst>
  </ns0:cSld>
</ns0:sld>
</file>

<file path=ppt/slides/slide5.xml><?xml version="1.0" encoding="utf-8"?>
<ns0:sld xmlns:ns0="http://schemas.openxmlformats.org/presentationml/2006/main" xmlns:ns1="http://schemas.openxmlformats.org/drawingml/2006/main" xmlns:ns2="http://schemas.microsoft.com/office/drawing/2014/main" xmlns:ns3="http://schemas.openxmlformats.org/officeDocument/2006/relationships" xmlns:ns4="http://schemas.microsoft.com/office/powerpoint/2010/main">
  <ns0:cSld>
    <ns0:bg>
      <ns0:bgPr>
        <ns1:solidFill>
          <ns1:srgbClr val="FAFAF7"/>
        </ns1:solidFill>
      </ns0:bgPr>
    </ns0:bg>
    <ns0:spTree>
      <ns0:nvGrpSpPr>
        <ns0:cNvPr id="1" name=""/>
        <ns0:cNvGrpSpPr/>
        <ns0:nvPr/>
      </ns0:nvGrpSpPr>
      <ns0:grpSpPr>
        <ns1:xfrm/>
      </ns0:grpSpPr>
      <ns0:sp>
        <ns0:nvSpPr>
          <ns0:cNvPr id="9" name="Title">
            <ns1:extLst>
              <ns1:ext uri="{FF2B5EF4-FFF2-40B4-BE49-F238E27FC236}">
                <ns2:creationId id="{FF3F0A7A-7ECE-4D00-A861-AA2D0F9A4A18}"/>
              </ns1:ext>
            </ns1:extLst>
          </ns0:cNvPr>
          <ns0:cNvSpPr>
            <ns1:spLocks noGrp="1"/>
          </ns0:cNvSpPr>
          <ns0:nvPr>
            <ns0:ph type="title"/>
          </ns0:nvPr>
        </ns0:nvSpPr>
        <ns0:spPr>
          <ns1:xfrm>
            <ns1:off x="685800" y="361950"/>
            <ns1:ext cx="10820400" cy="1066800"/>
          </ns1:xfrm>
          <ns1:prstGeom prst="rect">
            <ns1:avLst/>
          </ns1:prstGeom>
          <ns1:noFill/>
          <ns1:ln w="0">
            <ns1:noFill/>
          </ns1:ln>
        </ns0:spPr>
        <ns0:txBody>
          <ns1:bodyPr wrap="square" lIns="0" tIns="0" rIns="0" bIns="0">
            <ns1:noAutofit/>
          </ns1:bodyPr>
          <ns1:lstStyle/>
          <ns1:p>
            <ns1:pPr>
              <ns1:defRPr sz="3600" b="1">
                <ns1:solidFill>
                  <ns1:srgbClr val="173042"/>
                </ns1:solidFill>
                <ns1:latin typeface="DejaVu Sans"/>
                <ns1:ea typeface="DejaVu Sans"/>
                <ns1:cs typeface="DejaVu Sans"/>
              </ns1:defRPr>
            </ns1:pPr>
            <ns1:r>
              <ns1:rPr sz="3600" b="1">
                <ns1:solidFill>
                  <ns1:srgbClr val="173042"/>
                </ns1:solidFill>
                <ns1:latin typeface="DejaVu Sans"/>
                <ns1:ea typeface="DejaVu Sans"/>
                <ns1:cs typeface="DejaVu Sans"/>
              </ns1:rPr>
              <ns1:t>Proposed review rules need a decision</ns1:t>
            </ns1:r>
          </ns1:p>
        </ns0:txBody>
      </ns0:sp>
      <ns0:sp>
        <ns0:nvSpPr>
          <ns0:cNvPr id="2" name="Lead">
            <ns1:extLst>
              <ns1:ext uri="{FF2B5EF4-FFF2-40B4-BE49-F238E27FC236}">
                <ns2:creationId id="{5FC72A93-79A8-4E03-9E26-2ECE5F0BCC78}"/>
              </ns1:ext>
            </ns1:extLst>
          </ns0:cNvPr>
          <ns0:cNvSpPr>
            <ns1:spLocks noGrp="1"/>
          </ns0:cNvSpPr>
          <ns0:nvPr/>
        </ns0:nvSpPr>
        <ns0:spPr>
          <ns1:xfrm>
            <ns1:off x="685800" y="1581150"/>
            <ns1:ext cx="10820400" cy="552450"/>
          </ns1:xfrm>
          <ns1:prstGeom prst="rect">
            <ns1:avLst/>
          </ns1:prstGeom>
          <ns1:noFill/>
          <ns1:ln w="0">
            <ns1:noFill/>
          </ns1:ln>
        </ns0:spPr>
        <ns0:txBody>
          <ns1:bodyPr wrap="square" lIns="0" tIns="0" rIns="0" bIns="0">
            <ns1:noAutofit/>
          </ns1:bodyPr>
          <ns1:lstStyle/>
          <ns1:p>
            <ns1:pPr>
              <ns1:defRPr sz="2250" b="1">
                <ns1:solidFill>
                  <ns1:srgbClr val="145A7A"/>
                </ns1:solidFill>
                <ns1:latin typeface="DejaVu Sans"/>
                <ns1:ea typeface="DejaVu Sans"/>
                <ns1:cs typeface="DejaVu Sans"/>
              </ns1:defRPr>
            </ns1:pPr>
            <ns1:r>
              <ns1:rPr sz="2250" b="1">
                <ns1:solidFill>
                  <ns1:srgbClr val="145A7A"/>
                </ns1:solidFill>
                <ns1:latin typeface="DejaVu Sans"/>
                <ns1:ea typeface="DejaVu Sans"/>
                <ns1:cs typeface="DejaVu Sans"/>
              </ns1:rPr>
              <ns1:t>Discussion criteria for the November 6 review</ns1:t>
            </ns1:r>
          </ns1:p>
        </ns0:txBody>
      </ns0:sp>
      <ns0:sp>
        <ns0:nvSpPr>
          <ns0:cNvPr id="3" name="Rule 1">
            <ns1:extLst>
              <ns1:ext uri="{FF2B5EF4-FFF2-40B4-BE49-F238E27FC236}">
                <ns2:creationId id="{C2A59BF3-9596-4951-8E14-982FEF4947D2}"/>
              </ns1:ext>
            </ns1:extLst>
          </ns0:cNvPr>
          <ns0:cNvSpPr>
            <ns1:spLocks noGrp="1"/>
          </ns0:cNvSpPr>
          <ns0:nvPr/>
        </ns0:nvSpPr>
        <ns0:spPr>
          <ns1:xfrm>
            <ns1:off x="685800" y="2238375"/>
            <ns1:ext cx="10820400" cy="723900"/>
          </ns1:xfrm>
          <ns1:prstGeom prst="rect">
            <ns1:avLst/>
          </ns1:prstGeom>
          <ns1:noFill/>
          <ns1:ln w="0">
            <ns1:noFill/>
          </ns1:ln>
        </ns0:spPr>
        <ns0:txBody>
          <ns1:bodyPr wrap="square" lIns="0" tIns="0" rIns="0" bIns="0">
            <ns1:noAutofit/>
          </ns1:bodyPr>
          <ns1:lstStyle/>
          <ns1:p>
            <ns1:pPr>
              <ns1:defRPr sz="2250" b="0">
                <ns1:solidFill>
                  <ns1:srgbClr val="173042"/>
                </ns1:solidFill>
                <ns1:latin typeface="DejaVu Sans"/>
                <ns1:ea typeface="DejaVu Sans"/>
                <ns1:cs typeface="DejaVu Sans"/>
              </ns1:defRPr>
            </ns1:pPr>
            <ns1:r>
              <ns1:rPr sz="2250" b="0">
                <ns1:solidFill>
                  <ns1:srgbClr val="173042"/>
                </ns1:solidFill>
                <ns1:latin typeface="DejaVu Sans"/>
                <ns1:ea typeface="DejaVu Sans"/>
                <ns1:cs typeface="DejaVu Sans"/>
              </ns1:rPr>
              <ns1:t>Median response time: at most 12 hours for completed requests</ns1:t>
            </ns1:r>
          </ns1:p>
        </ns0:txBody>
      </ns0:sp>
      <ns0:sp>
        <ns0:nvSpPr>
          <ns0:cNvPr id="4" name="Rule 2">
            <ns1:extLst>
              <ns1:ext uri="{FF2B5EF4-FFF2-40B4-BE49-F238E27FC236}">
                <ns2:creationId id="{9131E6F1-9E4B-4C06-B082-A539769D98C0}"/>
              </ns1:ext>
            </ns1:extLst>
          </ns0:cNvPr>
          <ns0:cNvSpPr>
            <ns1:spLocks noGrp="1"/>
          </ns0:cNvSpPr>
          <ns0:nvPr/>
        </ns0:nvSpPr>
        <ns0:spPr>
          <ns1:xfrm>
            <ns1:off x="685800" y="3009900"/>
            <ns1:ext cx="10820400" cy="723900"/>
          </ns1:xfrm>
          <ns1:prstGeom prst="rect">
            <ns1:avLst/>
          </ns1:prstGeom>
          <ns1:noFill/>
          <ns1:ln w="0">
            <ns1:noFill/>
          </ns1:ln>
        </ns0:spPr>
        <ns0:txBody>
          <ns1:bodyPr wrap="square" lIns="0" tIns="0" rIns="0" bIns="0">
            <ns1:noAutofit/>
          </ns1:bodyPr>
          <ns1:lstStyle/>
          <ns1:p>
            <ns1:pPr>
              <ns1:defRPr sz="2250" b="0">
                <ns1:solidFill>
                  <ns1:srgbClr val="173042"/>
                </ns1:solidFill>
                <ns1:latin typeface="DejaVu Sans"/>
                <ns1:ea typeface="DejaVu Sans"/>
                <ns1:cs typeface="DejaVu Sans"/>
              </ns1:defRPr>
            </ns1:pPr>
            <ns1:r>
              <ns1:rPr sz="2250" b="0">
                <ns1:solidFill>
                  <ns1:srgbClr val="173042"/>
                </ns1:solidFill>
                <ns1:latin typeface="DejaVu Sans"/>
                <ns1:ea typeface="DejaVu Sans"/>
                <ns1:cs typeface="DejaVu Sans"/>
              </ns1:rPr>
              <ns1:t>Seven-day reopening rate: at most 12%, with counts shown</ns1:t>
            </ns1:r>
          </ns1:p>
        </ns0:txBody>
      </ns0:sp>
      <ns0:sp>
        <ns0:nvSpPr>
          <ns0:cNvPr id="5" name="Rule 3">
            <ns1:extLst>
              <ns1:ext uri="{FF2B5EF4-FFF2-40B4-BE49-F238E27FC236}">
                <ns2:creationId id="{AB53C805-D92E-4F8B-975B-A421BB3ABEC0}"/>
              </ns1:ext>
            </ns1:extLst>
          </ns0:cNvPr>
          <ns0:cNvSpPr>
            <ns1:spLocks noGrp="1"/>
          </ns0:cNvSpPr>
          <ns0:nvPr/>
        </ns0:nvSpPr>
        <ns0:spPr>
          <ns1:xfrm>
            <ns1:off x="685800" y="3781425"/>
            <ns1:ext cx="10820400" cy="723900"/>
          </ns1:xfrm>
          <ns1:prstGeom prst="rect">
            <ns1:avLst/>
          </ns1:prstGeom>
          <ns1:noFill/>
          <ns1:ln w="0">
            <ns1:noFill/>
          </ns1:ln>
        </ns0:spPr>
        <ns0:txBody>
          <ns1:bodyPr wrap="square" lIns="0" tIns="0" rIns="0" bIns="0">
            <ns1:noAutofit/>
          </ns1:bodyPr>
          <ns1:lstStyle/>
          <ns1:p>
            <ns1:pPr>
              <ns1:defRPr sz="2250" b="0">
                <ns1:solidFill>
                  <ns1:srgbClr val="173042"/>
                </ns1:solidFill>
                <ns1:latin typeface="DejaVu Sans"/>
                <ns1:ea typeface="DejaVu Sans"/>
                <ns1:cs typeface="DejaVu Sans"/>
              </ns1:defRPr>
            </ns1:pPr>
            <ns1:r>
              <ns1:rPr sz="2250" b="0">
                <ns1:solidFill>
                  <ns1:srgbClr val="173042"/>
                </ns1:solidFill>
                <ns1:latin typeface="DejaVu Sans"/>
                <ns1:ea typeface="DejaVu Sans"/>
                <ns1:cs typeface="DejaVu Sans"/>
              </ns1:rPr>
              <ns1:t>Staff time: at most 8 staff-hours per week</ns1:t>
            </ns1:r>
          </ns1:p>
        </ns0:txBody>
      </ns0:sp>
      <ns0:sp>
        <ns0:nvSpPr>
          <ns0:cNvPr id="6" name="Rule 4">
            <ns1:extLst>
              <ns1:ext uri="{FF2B5EF4-FFF2-40B4-BE49-F238E27FC236}">
                <ns2:creationId id="{68FF3A30-988D-47B6-AF8E-B3E8AA185F71}"/>
              </ns1:ext>
            </ns1:extLst>
          </ns0:cNvPr>
          <ns0:cNvSpPr>
            <ns1:spLocks noGrp="1"/>
          </ns0:cNvSpPr>
          <ns0:nvPr/>
        </ns0:nvSpPr>
        <ns0:spPr>
          <ns1:xfrm>
            <ns1:off x="685800" y="4552950"/>
            <ns1:ext cx="10820400" cy="723900"/>
          </ns1:xfrm>
          <ns1:prstGeom prst="rect">
            <ns1:avLst/>
          </ns1:prstGeom>
          <ns1:noFill/>
          <ns1:ln w="0">
            <ns1:noFill/>
          </ns1:ln>
        </ns0:spPr>
        <ns0:txBody>
          <ns1:bodyPr wrap="square" lIns="0" tIns="0" rIns="0" bIns="0">
            <ns1:noAutofit/>
          </ns1:bodyPr>
          <ns1:lstStyle/>
          <ns1:p>
            <ns1:pPr>
              <ns1:defRPr sz="2250" b="0">
                <ns1:solidFill>
                  <ns1:srgbClr val="173042"/>
                </ns1:solidFill>
                <ns1:latin typeface="DejaVu Sans"/>
                <ns1:ea typeface="DejaVu Sans"/>
                <ns1:cs typeface="DejaVu Sans"/>
              </ns1:defRPr>
            </ns1:pPr>
            <ns1:r>
              <ns1:rPr sz="2250" b="0">
                <ns1:solidFill>
                  <ns1:srgbClr val="173042"/>
                </ns1:solidFill>
                <ns1:latin typeface="DejaVu Sans"/>
                <ns1:ea typeface="DejaVu Sans"/>
                <ns1:cs typeface="DejaVu Sans"/>
              </ns1:rPr>
              <ns1:t>Any logged serious service failure: pause and leadership review</ns1:t>
            </ns1:r>
          </ns1:p>
        </ns0:txBody>
      </ns0:sp>
      <ns0:sp>
        <ns0:nvSpPr>
          <ns0:cNvPr id="7" name="Caveat">
            <ns1:extLst>
              <ns1:ext uri="{FF2B5EF4-FFF2-40B4-BE49-F238E27FC236}">
                <ns2:creationId id="{CB651258-4CE4-4A53-B1D2-9ECE14744111}"/>
              </ns1:ext>
            </ns1:extLst>
          </ns0:cNvPr>
          <ns0:cNvSpPr>
            <ns1:spLocks noGrp="1"/>
          </ns0:cNvSpPr>
          <ns0:nvPr/>
        </ns0:nvSpPr>
        <ns0:spPr>
          <ns1:xfrm>
            <ns1:off x="685800" y="5629275"/>
            <ns1:ext cx="10820400" cy="609600"/>
          </ns1:xfrm>
          <ns1:prstGeom prst="rect">
            <ns1:avLst/>
          </ns1:prstGeom>
          <ns1:noFill/>
          <ns1:ln w="0">
            <ns1:noFill/>
          </ns1:ln>
        </ns0:spPr>
        <ns0:txBody>
          <ns1:bodyPr wrap="square" lIns="0" tIns="0" rIns="0" bIns="0">
            <ns1:noAutofit/>
          </ns1:bodyPr>
          <ns1:lstStyle/>
          <ns1:p>
            <ns1:pPr>
              <ns1:defRPr sz="1800" b="0">
                <ns1:solidFill>
                  <ns1:srgbClr val="455968"/>
                </ns1:solidFill>
                <ns1:latin typeface="DejaVu Sans"/>
                <ns1:ea typeface="DejaVu Sans"/>
                <ns1:cs typeface="DejaVu Sans"/>
              </ns1:defRPr>
            </ns1:pPr>
            <ns1:r>
              <ns1:rPr sz="1800" b="0">
                <ns1:solidFill>
                  <ns1:srgbClr val="455968"/>
                </ns1:solidFill>
                <ns1:latin typeface="DejaVu Sans"/>
                <ns1:ea typeface="DejaVu Sans"/>
                <ns1:cs typeface="DejaVu Sans"/>
              </ns1:rPr>
              <ns1:t>These are proposed thresholds. Expansion requires a separate decision.</ns1:t>
            </ns1:r>
          </ns1:p>
        </ns0:txBody>
      </ns0:sp>
      <ns0:sp>
        <ns0:nvSpPr>
          <ns0:cNvPr id="8" name="Sources">
            <ns1:extLst>
              <ns1:ext uri="{FF2B5EF4-FFF2-40B4-BE49-F238E27FC236}">
                <ns2:creationId id="{C41CA747-CB57-4B7D-AF3F-14DBEB4FD523}"/>
              </ns1:ext>
            </ns1:extLst>
          </ns0:cNvPr>
          <ns0:cNvSpPr>
            <ns1:spLocks noGrp="1"/>
          </ns0:cNvSpPr>
          <ns0:nvPr/>
        </ns0:nvSpPr>
        <ns0:spPr>
          <ns1:xfrm>
            <ns1:off x="685800" y="6419850"/>
            <ns1:ext cx="10820400" cy="304800"/>
          </ns1:xfrm>
          <ns1:prstGeom prst="rect">
            <ns1:avLst/>
          </ns1:prstGeom>
          <ns1:noFill/>
          <ns1:ln w="0">
            <ns1:noFill/>
          </ns1:ln>
        </ns0:spPr>
        <ns0:txBody>
          <ns1:bodyPr wrap="square" lIns="0" tIns="0" rIns="0" bIns="0">
            <ns1:noAutofit/>
          </ns1:bodyPr>
          <ns1:lstStyle/>
          <ns1:p>
            <ns1:pPr>
              <ns1:defRPr sz="1800" b="0">
                <ns1:solidFill>
                  <ns1:srgbClr val="455968"/>
                </ns1:solidFill>
                <ns1:latin typeface="DejaVu Sans"/>
                <ns1:ea typeface="DejaVu Sans"/>
                <ns1:cs typeface="DejaVu Sans"/>
              </ns1:defRPr>
            </ns1:pPr>
            <ns1:r>
              <ns1:rPr sz="1800" b="0">
                <ns1:solidFill>
                  <ns1:srgbClr val="455968"/>
                </ns1:solidFill>
                <ns1:latin typeface="DejaVu Sans"/>
                <ns1:ea typeface="DejaVu Sans"/>
                <ns1:cs typeface="DejaVu Sans"/>
              </ns1:rPr>
              <ns1:t>Fictional example. Sources </ns1:t>
            </ns1:r>
            <ns1:r>
              <ns1:rPr sz="1800" b="0">
                <ns1:solidFill>
                  <ns1:srgbClr val="455968"/>
                </ns1:solidFill>
                <ns1:latin typeface="DejaVu Sans"/>
                <ns1:ea typeface="DejaVu Sans"/>
                <ns1:cs typeface="DejaVu Sans"/>
                <ns1:hlinkClick ns3:id="R7751feb6543a4362"/>
              </ns1:rPr>
              <ns1:t>S0</ns1:t>
            </ns1:r>
            <ns1:r>
              <ns1:rPr sz="1800" b="0">
                <ns1:solidFill>
                  <ns1:srgbClr val="455968"/>
                </ns1:solidFill>
                <ns1:latin typeface="DejaVu Sans"/>
                <ns1:ea typeface="DejaVu Sans"/>
                <ns1:cs typeface="DejaVu Sans"/>
              </ns1:rPr>
              <ns1:t>, </ns1:t>
            </ns1:r>
            <ns1:r>
              <ns1:rPr sz="1800" b="0">
                <ns1:solidFill>
                  <ns1:srgbClr val="455968"/>
                </ns1:solidFill>
                <ns1:latin typeface="DejaVu Sans"/>
                <ns1:ea typeface="DejaVu Sans"/>
                <ns1:cs typeface="DejaVu Sans"/>
                <ns1:hlinkClick ns3:id="R6bb8f39fd0b64336"/>
              </ns1:rPr>
              <ns1:t>S4</ns1:t>
            </ns1:r>
            <ns1:r>
              <ns1:rPr sz="1800" b="0">
                <ns1:solidFill>
                  <ns1:srgbClr val="455968"/>
                </ns1:solidFill>
                <ns1:latin typeface="DejaVu Sans"/>
                <ns1:ea typeface="DejaVu Sans"/>
                <ns1:cs typeface="DejaVu Sans"/>
              </ns1:rPr>
              <ns1:t>. 5/5</ns1:t>
            </ns1:r>
          </ns1:p>
        </ns0:txBody>
      </ns0:sp>
    </ns0:spTree>
    <ns0:extLst>
      <ns0:ext uri="{BB962C8B-B14F-4D97-AF65-F5344CB8AC3E}">
        <ns4:creationId val="863355829"/>
      </ns0:ext>
    </ns0:extLst>
  </ns0:cSld>
</ns0: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ns0:Properties xmlns:ns0="http://schemas.openxmlformats.org/officeDocument/2006/extended-properties">
  <ns0:PresentationFormat>On-screen Show (16:9)</ns0:PresentationFormat>
  <ns0:Slides>5</ns0:Slides>
  <ns0:Notes>5</ns0:Notes>
  <ns0:HiddenSlides>0</ns0:HiddenSlides>
  <ns0:SharedDoc>false</ns0:SharedDoc>
  <ns0:DocSecurity>0</ns0:DocSecurity>
</ns0:Properties>
</file>

<file path=docProps/core.xml><?xml version="1.0" encoding="utf-8"?>
<ns0:coreProperties xmlns:dc="http://purl.org/dc/elements/1.1/" xmlns:ns0="http://schemas.openxmlformats.org/package/2006/metadata/core-properties" xmlns:ns2="http://purl.org/dc/terms/" xmlns:xsi="http://www.w3.org/2001/XMLSchema-instance">
  <dc:creator>Fictional workflow example</dc:creator>
  <ns0:lastModifiedBy>Fictional workflow example</ns0:lastModifiedBy>
  <dc:title>Fictional intake pilot decision</dc:title>
  <ns2:created xsi:type="dcterms:W3CDTF">2026-10-01T22:13:15.1210000Z</ns2:created>
  <ns2:modified xsi:type="dcterms:W3CDTF">2026-10-01T22:13:15.1210000Z</ns2:modified>
</ns0:coreProperties>
</file>